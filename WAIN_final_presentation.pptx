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8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118203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WAIN — “where to?” in Gulf Arabic — is our final project for the Generative AI course. It turns a single sentence and a budget into the right places in Riyadh.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will cover: the problem and our solution, how it works, the tools and technology we used, a live demo, and finally how we can develop WAIN further.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so many places in Riyadh, choosing one is tiring. Most apps make you fight with filters, budget per person is rarely the main signal, and repeated searches feel the same. Our solution: an AI agent that understands a normal sentence and finds places that fit.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One: the user types a sentence. Two: the AI agent extracts the intent. Three: exact filters on our places database find matching places. Four: WAIN recommends the places that truly match the person's budget and taste.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tools: the OpenAI API and LangChain power the AI agent; Python is the language behind the project; Streamlit is the user interface; PostgreSQL stores the places and runs the filters; Git and GitHub let us collaborate on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development: more cities beyond Riyadh, maps and directions, Arabic language support, and personal profiles that remember budgets and tastes.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Type a sentence like “I want sushi” or “I want shawarma” to show cuisine-specific results, tap a result’s neighborhood to open it directly in Google Maps, then search again to show that fresh options appear.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0" y="0"/>
            <a:ext cx="3657600" cy="5143500"/>
          </a:xfrm>
          <a:prstGeom prst="rect">
            <a:avLst/>
          </a:prstGeom>
          <a:solidFill>
            <a:srgbClr val="FFFFFF"/>
          </a:solidFill>
          <a:ln w="12700">
            <a:solidFill>
              <a:srgbClr val="FFFFFF"/>
            </a:solidFill>
            <a:prstDash val="solid"/>
          </a:ln>
        </p:spPr>
      </p:sp>
      <p:pic>
        <p:nvPicPr>
          <p:cNvPr id="3" name="Image 0" descr="assets/logo_full_green.png"/>
          <p:cNvPicPr>
            <a:picLocks noChangeAspect="1"/>
          </p:cNvPicPr>
          <p:nvPr/>
        </p:nvPicPr>
        <p:blipFill>
          <a:blip r:embed="rId4"/>
          <a:stretch>
            <a:fillRect/>
          </a:stretch>
        </p:blipFill>
        <p:spPr>
          <a:xfrm>
            <a:off x="6035040" y="548640"/>
            <a:ext cx="2568659" cy="3310128"/>
          </a:xfrm>
          <a:prstGeom prst="rect">
            <a:avLst/>
          </a:prstGeom>
        </p:spPr>
      </p:pic>
      <p:sp>
        <p:nvSpPr>
          <p:cNvPr id="4" name="Text 1"/>
          <p:cNvSpPr txBox="1"/>
          <p:nvPr/>
        </p:nvSpPr>
        <p:spPr>
          <a:xfrm>
            <a:off x="5486400" y="4114800"/>
            <a:ext cx="3657600" cy="365760"/>
          </a:xfrm>
          <a:prstGeom prst="rect">
            <a:avLst/>
          </a:prstGeom>
          <a:noFill/>
          <a:ln/>
        </p:spPr>
        <p:txBody>
          <a:bodyPr wrap="square" lIns="0" tIns="0" rIns="0" bIns="0" rtlCol="0" anchor="ctr"/>
          <a:lstStyle/>
          <a:p>
            <a:pPr marL="0" indent="0" algn="ctr">
              <a:buNone/>
            </a:pPr>
            <a:r>
              <a:rPr lang="en-US" sz="1600" i="1" dirty="0">
                <a:solidFill>
                  <a:srgbClr val="377C5B"/>
                </a:solidFill>
                <a:latin typeface="Cambria" pitchFamily="34" charset="0"/>
                <a:ea typeface="Cambria" pitchFamily="34" charset="-122"/>
                <a:cs typeface="Cambria" pitchFamily="34" charset="-120"/>
              </a:rPr>
              <a:t>Find. choose. Explore.</a:t>
            </a:r>
            <a:endParaRPr lang="en-US" sz="1600" dirty="0"/>
          </a:p>
        </p:txBody>
      </p:sp>
      <p:sp>
        <p:nvSpPr>
          <p:cNvPr id="6" name="Text 3"/>
          <p:cNvSpPr txBox="1"/>
          <p:nvPr/>
        </p:nvSpPr>
        <p:spPr>
          <a:xfrm>
            <a:off x="457200" y="845820"/>
            <a:ext cx="47548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Looking for somewhere to go?</a:t>
            </a:r>
            <a:endParaRPr lang="en-US" sz="3600" dirty="0"/>
          </a:p>
        </p:txBody>
      </p:sp>
      <p:sp>
        <p:nvSpPr>
          <p:cNvPr id="7" name="Text 4"/>
          <p:cNvSpPr txBox="1"/>
          <p:nvPr/>
        </p:nvSpPr>
        <p:spPr>
          <a:xfrm>
            <a:off x="457200" y="1921137"/>
            <a:ext cx="4480560" cy="491869"/>
          </a:xfrm>
          <a:prstGeom prst="rect">
            <a:avLst/>
          </a:prstGeom>
          <a:noFill/>
          <a:ln/>
        </p:spPr>
        <p:txBody>
          <a:bodyPr wrap="square" lIns="0" tIns="0" rIns="0" bIns="0" rtlCol="0" anchor="t"/>
          <a:lstStyle/>
          <a:p>
            <a:pPr marL="0" indent="0">
              <a:buNone/>
            </a:pPr>
            <a:r>
              <a:rPr lang="en-US" sz="1600" dirty="0">
                <a:solidFill>
                  <a:srgbClr val="CFE6D5"/>
                </a:solidFill>
                <a:latin typeface="Calibri" pitchFamily="34" charset="0"/>
                <a:ea typeface="Calibri" pitchFamily="34" charset="-122"/>
                <a:cs typeface="Calibri" pitchFamily="34" charset="-120"/>
              </a:rPr>
              <a:t>your AI-Powered Riyadh Place Recommendation Assistant  </a:t>
            </a:r>
            <a:endParaRPr lang="en-US" sz="1600" dirty="0"/>
          </a:p>
        </p:txBody>
      </p:sp>
      <p:sp>
        <p:nvSpPr>
          <p:cNvPr id="9" name="Text 6"/>
          <p:cNvSpPr txBox="1"/>
          <p:nvPr/>
        </p:nvSpPr>
        <p:spPr>
          <a:xfrm>
            <a:off x="457200" y="4091203"/>
            <a:ext cx="4572000" cy="32004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600" b="1" dirty="0">
                <a:solidFill>
                  <a:srgbClr val="FFFFFF"/>
                </a:solidFill>
                <a:latin typeface="Calibri" pitchFamily="34" charset="0"/>
                <a:ea typeface="Calibri" pitchFamily="34" charset="-122"/>
                <a:cs typeface="Calibri" pitchFamily="34" charset="-120"/>
              </a:rPr>
              <a:t>Reema </a:t>
            </a:r>
            <a:r>
              <a:rPr lang="en-US" sz="1600" b="1" dirty="0" err="1">
                <a:solidFill>
                  <a:srgbClr val="FFFFFF"/>
                </a:solidFill>
                <a:latin typeface="Calibri" pitchFamily="34" charset="0"/>
                <a:ea typeface="Calibri" pitchFamily="34" charset="-122"/>
                <a:cs typeface="Calibri" pitchFamily="34" charset="-120"/>
              </a:rPr>
              <a:t>Almutawa</a:t>
            </a:r>
            <a:r>
              <a:rPr lang="en-US" sz="1600" b="1" dirty="0">
                <a:solidFill>
                  <a:srgbClr val="FFFFFF"/>
                </a:solidFill>
                <a:latin typeface="Calibri" pitchFamily="34" charset="0"/>
                <a:ea typeface="Calibri" pitchFamily="34" charset="-122"/>
                <a:cs typeface="Calibri" pitchFamily="34" charset="-120"/>
              </a:rPr>
              <a:t> </a:t>
            </a:r>
          </a:p>
          <a:p>
            <a:pPr marL="285750" indent="-285750">
              <a:lnSpc>
                <a:spcPct val="150000"/>
              </a:lnSpc>
              <a:buFont typeface="Arial" panose="020B0604020202020204" pitchFamily="34" charset="0"/>
              <a:buChar char="•"/>
            </a:pPr>
            <a:r>
              <a:rPr lang="en-US" sz="1600" b="1" dirty="0">
                <a:solidFill>
                  <a:srgbClr val="FFFFFF"/>
                </a:solidFill>
                <a:latin typeface="Calibri" pitchFamily="34" charset="0"/>
                <a:ea typeface="Calibri" pitchFamily="34" charset="-122"/>
                <a:cs typeface="Calibri" pitchFamily="34" charset="-120"/>
              </a:rPr>
              <a:t>Fatimah Alqahtani </a:t>
            </a:r>
          </a:p>
          <a:p>
            <a:pPr marL="285750" indent="-285750">
              <a:lnSpc>
                <a:spcPct val="150000"/>
              </a:lnSpc>
              <a:buFont typeface="Arial" panose="020B0604020202020204" pitchFamily="34" charset="0"/>
              <a:buChar char="•"/>
            </a:pPr>
            <a:r>
              <a:rPr lang="en-US" sz="1600" b="1" dirty="0">
                <a:solidFill>
                  <a:srgbClr val="FFFFFF"/>
                </a:solidFill>
                <a:latin typeface="Calibri" pitchFamily="34" charset="0"/>
                <a:ea typeface="Calibri" pitchFamily="34" charset="-122"/>
                <a:cs typeface="Calibri" pitchFamily="34" charset="-120"/>
              </a:rPr>
              <a:t>Alanoud Alotaibi</a:t>
            </a:r>
            <a:endParaRPr lang="en-US" sz="1600" dirty="0"/>
          </a:p>
        </p:txBody>
      </p:sp>
      <p:pic>
        <p:nvPicPr>
          <p:cNvPr id="8" name="صورة 7">
            <a:extLst>
              <a:ext uri="{FF2B5EF4-FFF2-40B4-BE49-F238E27FC236}">
                <a16:creationId xmlns:a16="http://schemas.microsoft.com/office/drawing/2014/main" id="{BA881630-1E31-EC79-A9AF-74A4A8281437}"/>
              </a:ext>
            </a:extLst>
          </p:cNvPr>
          <p:cNvPicPr>
            <a:picLocks noChangeAspect="1"/>
          </p:cNvPicPr>
          <p:nvPr/>
        </p:nvPicPr>
        <p:blipFill>
          <a:blip r:embed="rId5"/>
          <a:stretch>
            <a:fillRect/>
          </a:stretch>
        </p:blipFill>
        <p:spPr>
          <a:xfrm>
            <a:off x="-31422" y="-393280"/>
            <a:ext cx="1340651" cy="1405922"/>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48640"/>
            <a:ext cx="54864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Agenda</a:t>
            </a:r>
            <a:endParaRPr lang="en-US" sz="4000" dirty="0"/>
          </a:p>
        </p:txBody>
      </p:sp>
      <p:sp>
        <p:nvSpPr>
          <p:cNvPr id="3" name="Shape 1"/>
          <p:cNvSpPr/>
          <p:nvPr/>
        </p:nvSpPr>
        <p:spPr>
          <a:xfrm>
            <a:off x="548640" y="1783080"/>
            <a:ext cx="640080" cy="640080"/>
          </a:xfrm>
          <a:prstGeom prst="ellipse">
            <a:avLst/>
          </a:prstGeom>
          <a:solidFill>
            <a:srgbClr val="89C089"/>
          </a:solidFill>
          <a:ln w="12700">
            <a:solidFill>
              <a:srgbClr val="89C089"/>
            </a:solidFill>
            <a:prstDash val="solid"/>
          </a:ln>
        </p:spPr>
      </p:sp>
      <p:sp>
        <p:nvSpPr>
          <p:cNvPr id="4" name="Text 2"/>
          <p:cNvSpPr txBox="1"/>
          <p:nvPr/>
        </p:nvSpPr>
        <p:spPr>
          <a:xfrm>
            <a:off x="548640" y="178308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01</a:t>
            </a:r>
            <a:endParaRPr lang="en-US" sz="1800" dirty="0"/>
          </a:p>
        </p:txBody>
      </p:sp>
      <p:sp>
        <p:nvSpPr>
          <p:cNvPr id="5" name="Text 3"/>
          <p:cNvSpPr txBox="1"/>
          <p:nvPr/>
        </p:nvSpPr>
        <p:spPr>
          <a:xfrm>
            <a:off x="1417320" y="176479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Problem &amp; solution</a:t>
            </a:r>
            <a:endParaRPr lang="en-US" sz="2000" dirty="0"/>
          </a:p>
        </p:txBody>
      </p:sp>
      <p:sp>
        <p:nvSpPr>
          <p:cNvPr id="6" name="Text 4"/>
          <p:cNvSpPr txBox="1"/>
          <p:nvPr/>
        </p:nvSpPr>
        <p:spPr>
          <a:xfrm>
            <a:off x="1417320" y="2148840"/>
            <a:ext cx="3108960" cy="274320"/>
          </a:xfrm>
          <a:prstGeom prst="rect">
            <a:avLst/>
          </a:prstGeom>
          <a:noFill/>
          <a:ln/>
        </p:spPr>
        <p:txBody>
          <a:bodyPr wrap="square" lIns="0" tIns="0" rIns="0" bIns="0" rtlCol="0" anchor="ctr"/>
          <a:lstStyle/>
          <a:p>
            <a:pPr marL="0" indent="0">
              <a:buNone/>
            </a:pPr>
            <a:r>
              <a:rPr lang="en-US" sz="1300" dirty="0">
                <a:solidFill>
                  <a:srgbClr val="CFE6D5"/>
                </a:solidFill>
                <a:latin typeface="Calibri" pitchFamily="34" charset="0"/>
                <a:ea typeface="Calibri" pitchFamily="34" charset="-122"/>
                <a:cs typeface="Calibri" pitchFamily="34" charset="-120"/>
              </a:rPr>
              <a:t>Why finding a place is hard</a:t>
            </a:r>
            <a:endParaRPr lang="en-US" sz="1300" dirty="0"/>
          </a:p>
        </p:txBody>
      </p:sp>
      <p:sp>
        <p:nvSpPr>
          <p:cNvPr id="7" name="Shape 5"/>
          <p:cNvSpPr/>
          <p:nvPr/>
        </p:nvSpPr>
        <p:spPr>
          <a:xfrm>
            <a:off x="548640" y="2834640"/>
            <a:ext cx="640080" cy="640080"/>
          </a:xfrm>
          <a:prstGeom prst="ellipse">
            <a:avLst/>
          </a:prstGeom>
          <a:solidFill>
            <a:srgbClr val="89C089"/>
          </a:solidFill>
          <a:ln w="12700">
            <a:solidFill>
              <a:srgbClr val="89C089"/>
            </a:solidFill>
            <a:prstDash val="solid"/>
          </a:ln>
        </p:spPr>
      </p:sp>
      <p:sp>
        <p:nvSpPr>
          <p:cNvPr id="8" name="Text 6"/>
          <p:cNvSpPr txBox="1"/>
          <p:nvPr/>
        </p:nvSpPr>
        <p:spPr>
          <a:xfrm>
            <a:off x="548640" y="283464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02</a:t>
            </a:r>
            <a:endParaRPr lang="en-US" sz="1800" dirty="0"/>
          </a:p>
        </p:txBody>
      </p:sp>
      <p:sp>
        <p:nvSpPr>
          <p:cNvPr id="9" name="Text 7"/>
          <p:cNvSpPr txBox="1"/>
          <p:nvPr/>
        </p:nvSpPr>
        <p:spPr>
          <a:xfrm>
            <a:off x="1417320" y="281635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How it works</a:t>
            </a:r>
            <a:endParaRPr lang="en-US" sz="2000" dirty="0"/>
          </a:p>
        </p:txBody>
      </p:sp>
      <p:sp>
        <p:nvSpPr>
          <p:cNvPr id="10" name="Text 8"/>
          <p:cNvSpPr txBox="1"/>
          <p:nvPr/>
        </p:nvSpPr>
        <p:spPr>
          <a:xfrm>
            <a:off x="1417320" y="3200400"/>
            <a:ext cx="3108960" cy="274320"/>
          </a:xfrm>
          <a:prstGeom prst="rect">
            <a:avLst/>
          </a:prstGeom>
          <a:noFill/>
          <a:ln/>
        </p:spPr>
        <p:txBody>
          <a:bodyPr wrap="square" lIns="0" tIns="0" rIns="0" bIns="0" rtlCol="0" anchor="ctr"/>
          <a:lstStyle/>
          <a:p>
            <a:pPr marL="0" indent="0">
              <a:buNone/>
            </a:pPr>
            <a:r>
              <a:rPr lang="en-US" sz="1300" dirty="0">
                <a:solidFill>
                  <a:srgbClr val="CFE6D5"/>
                </a:solidFill>
                <a:latin typeface="Calibri" pitchFamily="34" charset="0"/>
                <a:ea typeface="Calibri" pitchFamily="34" charset="-122"/>
                <a:cs typeface="Calibri" pitchFamily="34" charset="-120"/>
              </a:rPr>
              <a:t>From sentence to results</a:t>
            </a:r>
            <a:endParaRPr lang="en-US" sz="1300" dirty="0"/>
          </a:p>
        </p:txBody>
      </p:sp>
      <p:sp>
        <p:nvSpPr>
          <p:cNvPr id="11" name="Shape 9"/>
          <p:cNvSpPr/>
          <p:nvPr/>
        </p:nvSpPr>
        <p:spPr>
          <a:xfrm>
            <a:off x="548640" y="3886200"/>
            <a:ext cx="640080" cy="640080"/>
          </a:xfrm>
          <a:prstGeom prst="ellipse">
            <a:avLst/>
          </a:prstGeom>
          <a:solidFill>
            <a:srgbClr val="89C089"/>
          </a:solidFill>
          <a:ln w="12700">
            <a:solidFill>
              <a:srgbClr val="89C089"/>
            </a:solidFill>
            <a:prstDash val="solid"/>
          </a:ln>
        </p:spPr>
      </p:sp>
      <p:sp>
        <p:nvSpPr>
          <p:cNvPr id="12" name="Text 10"/>
          <p:cNvSpPr txBox="1"/>
          <p:nvPr/>
        </p:nvSpPr>
        <p:spPr>
          <a:xfrm>
            <a:off x="548640" y="388620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03</a:t>
            </a:r>
            <a:endParaRPr lang="en-US" sz="1800" dirty="0"/>
          </a:p>
        </p:txBody>
      </p:sp>
      <p:sp>
        <p:nvSpPr>
          <p:cNvPr id="13" name="Text 11"/>
          <p:cNvSpPr txBox="1"/>
          <p:nvPr/>
        </p:nvSpPr>
        <p:spPr>
          <a:xfrm>
            <a:off x="1417320" y="386791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Tools &amp; technology</a:t>
            </a:r>
            <a:endParaRPr lang="en-US" sz="2000" dirty="0"/>
          </a:p>
        </p:txBody>
      </p:sp>
      <p:sp>
        <p:nvSpPr>
          <p:cNvPr id="14" name="Text 12"/>
          <p:cNvSpPr txBox="1"/>
          <p:nvPr/>
        </p:nvSpPr>
        <p:spPr>
          <a:xfrm>
            <a:off x="1417320" y="4251960"/>
            <a:ext cx="3108960" cy="274320"/>
          </a:xfrm>
          <a:prstGeom prst="rect">
            <a:avLst/>
          </a:prstGeom>
          <a:noFill/>
          <a:ln/>
        </p:spPr>
        <p:txBody>
          <a:bodyPr wrap="square" lIns="0" tIns="0" rIns="0" bIns="0" rtlCol="0" anchor="ctr"/>
          <a:lstStyle/>
          <a:p>
            <a:pPr marL="0" indent="0">
              <a:buNone/>
            </a:pPr>
            <a:r>
              <a:rPr lang="en-US" sz="1300" dirty="0">
                <a:solidFill>
                  <a:srgbClr val="CFE6D5"/>
                </a:solidFill>
                <a:latin typeface="Calibri" pitchFamily="34" charset="0"/>
                <a:ea typeface="Calibri" pitchFamily="34" charset="-122"/>
                <a:cs typeface="Calibri" pitchFamily="34" charset="-120"/>
              </a:rPr>
              <a:t>What we built it with</a:t>
            </a:r>
            <a:endParaRPr lang="en-US" sz="1300" dirty="0"/>
          </a:p>
        </p:txBody>
      </p:sp>
      <p:sp>
        <p:nvSpPr>
          <p:cNvPr id="15" name="Shape 13"/>
          <p:cNvSpPr/>
          <p:nvPr/>
        </p:nvSpPr>
        <p:spPr>
          <a:xfrm>
            <a:off x="4754880" y="1783080"/>
            <a:ext cx="640080" cy="640080"/>
          </a:xfrm>
          <a:prstGeom prst="ellipse">
            <a:avLst/>
          </a:prstGeom>
          <a:solidFill>
            <a:srgbClr val="89C089"/>
          </a:solidFill>
          <a:ln w="12700">
            <a:solidFill>
              <a:srgbClr val="89C089"/>
            </a:solidFill>
            <a:prstDash val="solid"/>
          </a:ln>
        </p:spPr>
      </p:sp>
      <p:sp>
        <p:nvSpPr>
          <p:cNvPr id="16" name="Text 14"/>
          <p:cNvSpPr txBox="1"/>
          <p:nvPr/>
        </p:nvSpPr>
        <p:spPr>
          <a:xfrm>
            <a:off x="4754880" y="178308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a:t>
            </a:r>
            <a:r>
              <a:rPr lang="en-US" b="1" dirty="0">
                <a:solidFill>
                  <a:srgbClr val="0E4B35"/>
                </a:solidFill>
                <a:latin typeface="Cambria" pitchFamily="34" charset="0"/>
                <a:ea typeface="Cambria" pitchFamily="34" charset="-122"/>
                <a:cs typeface="Cambria" pitchFamily="34" charset="-120"/>
              </a:rPr>
              <a:t>4</a:t>
            </a:r>
            <a:endParaRPr lang="en-US" sz="1800" dirty="0"/>
          </a:p>
        </p:txBody>
      </p:sp>
      <p:sp>
        <p:nvSpPr>
          <p:cNvPr id="17" name="Text 15"/>
          <p:cNvSpPr txBox="1"/>
          <p:nvPr/>
        </p:nvSpPr>
        <p:spPr>
          <a:xfrm>
            <a:off x="5623560" y="281694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Live demo</a:t>
            </a:r>
            <a:endParaRPr lang="en-US" sz="2000" dirty="0"/>
          </a:p>
        </p:txBody>
      </p:sp>
      <p:sp>
        <p:nvSpPr>
          <p:cNvPr id="18" name="Text 16"/>
          <p:cNvSpPr txBox="1"/>
          <p:nvPr/>
        </p:nvSpPr>
        <p:spPr>
          <a:xfrm>
            <a:off x="5623560" y="3200990"/>
            <a:ext cx="3108960" cy="274320"/>
          </a:xfrm>
          <a:prstGeom prst="rect">
            <a:avLst/>
          </a:prstGeom>
          <a:noFill/>
          <a:ln/>
        </p:spPr>
        <p:txBody>
          <a:bodyPr wrap="square" lIns="0" tIns="0" rIns="0" bIns="0" rtlCol="0" anchor="ctr"/>
          <a:lstStyle/>
          <a:p>
            <a:pPr marL="0" indent="0">
              <a:buNone/>
            </a:pPr>
            <a:r>
              <a:rPr lang="en-US" sz="1300" dirty="0">
                <a:solidFill>
                  <a:srgbClr val="CFE6D5"/>
                </a:solidFill>
                <a:latin typeface="Calibri" pitchFamily="34" charset="0"/>
                <a:ea typeface="Calibri" pitchFamily="34" charset="-122"/>
                <a:cs typeface="Calibri" pitchFamily="34" charset="-120"/>
              </a:rPr>
              <a:t>WAIN in action</a:t>
            </a:r>
            <a:endParaRPr lang="en-US" sz="1300" dirty="0"/>
          </a:p>
        </p:txBody>
      </p:sp>
      <p:sp>
        <p:nvSpPr>
          <p:cNvPr id="19" name="Shape 17"/>
          <p:cNvSpPr/>
          <p:nvPr/>
        </p:nvSpPr>
        <p:spPr>
          <a:xfrm>
            <a:off x="4754880" y="2834640"/>
            <a:ext cx="640080" cy="640080"/>
          </a:xfrm>
          <a:prstGeom prst="ellipse">
            <a:avLst/>
          </a:prstGeom>
          <a:solidFill>
            <a:srgbClr val="89C089"/>
          </a:solidFill>
          <a:ln w="12700">
            <a:solidFill>
              <a:srgbClr val="89C089"/>
            </a:solidFill>
            <a:prstDash val="solid"/>
          </a:ln>
        </p:spPr>
      </p:sp>
      <p:sp>
        <p:nvSpPr>
          <p:cNvPr id="20" name="Text 18"/>
          <p:cNvSpPr txBox="1"/>
          <p:nvPr/>
        </p:nvSpPr>
        <p:spPr>
          <a:xfrm>
            <a:off x="4754880" y="283464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05</a:t>
            </a:r>
            <a:endParaRPr lang="en-US" sz="1800" dirty="0"/>
          </a:p>
        </p:txBody>
      </p:sp>
      <p:sp>
        <p:nvSpPr>
          <p:cNvPr id="21" name="Text 19"/>
          <p:cNvSpPr txBox="1"/>
          <p:nvPr/>
        </p:nvSpPr>
        <p:spPr>
          <a:xfrm>
            <a:off x="5623560" y="176479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Future development</a:t>
            </a:r>
            <a:endParaRPr lang="en-US" sz="2000" dirty="0"/>
          </a:p>
        </p:txBody>
      </p:sp>
      <p:sp>
        <p:nvSpPr>
          <p:cNvPr id="22" name="Text 20"/>
          <p:cNvSpPr txBox="1"/>
          <p:nvPr/>
        </p:nvSpPr>
        <p:spPr>
          <a:xfrm>
            <a:off x="5623560" y="2088962"/>
            <a:ext cx="3108960" cy="274320"/>
          </a:xfrm>
          <a:prstGeom prst="rect">
            <a:avLst/>
          </a:prstGeom>
          <a:noFill/>
          <a:ln/>
        </p:spPr>
        <p:txBody>
          <a:bodyPr wrap="square" lIns="0" tIns="0" rIns="0" bIns="0" rtlCol="0" anchor="ctr"/>
          <a:lstStyle/>
          <a:p>
            <a:pPr marL="0" indent="0">
              <a:buNone/>
            </a:pPr>
            <a:r>
              <a:rPr lang="en-US" sz="1300" dirty="0">
                <a:solidFill>
                  <a:srgbClr val="CFE6D5"/>
                </a:solidFill>
                <a:latin typeface="Calibri" pitchFamily="34" charset="0"/>
                <a:ea typeface="Calibri" pitchFamily="34" charset="-122"/>
                <a:cs typeface="Calibri" pitchFamily="34" charset="-120"/>
              </a:rPr>
              <a:t>What we can build next</a:t>
            </a:r>
            <a:endParaRPr lang="en-US" sz="1300" dirty="0"/>
          </a:p>
        </p:txBody>
      </p:sp>
      <p:pic>
        <p:nvPicPr>
          <p:cNvPr id="24" name="Image 0" descr="assets/skyline_white.png"/>
          <p:cNvPicPr>
            <a:picLocks noChangeAspect="1"/>
          </p:cNvPicPr>
          <p:nvPr/>
        </p:nvPicPr>
        <p:blipFill>
          <a:blip r:embed="rId4">
            <a:alphaModFix amt="70000"/>
          </a:blip>
          <a:stretch>
            <a:fillRect/>
          </a:stretch>
        </p:blipFill>
        <p:spPr>
          <a:xfrm>
            <a:off x="-274320" y="4524982"/>
            <a:ext cx="1188720" cy="929414"/>
          </a:xfrm>
          <a:prstGeom prst="rect">
            <a:avLst/>
          </a:prstGeom>
        </p:spPr>
      </p:pic>
      <p:pic>
        <p:nvPicPr>
          <p:cNvPr id="25" name="Image 1" descr="assets/skyline_white.png"/>
          <p:cNvPicPr>
            <a:picLocks noChangeAspect="1"/>
          </p:cNvPicPr>
          <p:nvPr/>
        </p:nvPicPr>
        <p:blipFill>
          <a:blip r:embed="rId4">
            <a:alphaModFix amt="70000"/>
          </a:blip>
          <a:stretch>
            <a:fillRect/>
          </a:stretch>
        </p:blipFill>
        <p:spPr>
          <a:xfrm flipH="1">
            <a:off x="960120" y="4526280"/>
            <a:ext cx="1188720" cy="929414"/>
          </a:xfrm>
          <a:prstGeom prst="rect">
            <a:avLst/>
          </a:prstGeom>
        </p:spPr>
      </p:pic>
      <p:pic>
        <p:nvPicPr>
          <p:cNvPr id="26" name="Image 2" descr="assets/skyline_white.png"/>
          <p:cNvPicPr>
            <a:picLocks noChangeAspect="1"/>
          </p:cNvPicPr>
          <p:nvPr/>
        </p:nvPicPr>
        <p:blipFill>
          <a:blip r:embed="rId4">
            <a:alphaModFix amt="70000"/>
          </a:blip>
          <a:stretch>
            <a:fillRect/>
          </a:stretch>
        </p:blipFill>
        <p:spPr>
          <a:xfrm>
            <a:off x="2194560" y="4524982"/>
            <a:ext cx="1188720" cy="929414"/>
          </a:xfrm>
          <a:prstGeom prst="rect">
            <a:avLst/>
          </a:prstGeom>
        </p:spPr>
      </p:pic>
      <p:pic>
        <p:nvPicPr>
          <p:cNvPr id="27" name="Image 3" descr="assets/skyline_white.png"/>
          <p:cNvPicPr>
            <a:picLocks noChangeAspect="1"/>
          </p:cNvPicPr>
          <p:nvPr/>
        </p:nvPicPr>
        <p:blipFill>
          <a:blip r:embed="rId4">
            <a:alphaModFix amt="70000"/>
          </a:blip>
          <a:stretch>
            <a:fillRect/>
          </a:stretch>
        </p:blipFill>
        <p:spPr>
          <a:xfrm flipH="1">
            <a:off x="3429000" y="4524982"/>
            <a:ext cx="1188720" cy="929414"/>
          </a:xfrm>
          <a:prstGeom prst="rect">
            <a:avLst/>
          </a:prstGeom>
        </p:spPr>
      </p:pic>
      <p:pic>
        <p:nvPicPr>
          <p:cNvPr id="28" name="Image 4" descr="assets/skyline_white.png"/>
          <p:cNvPicPr>
            <a:picLocks noChangeAspect="1"/>
          </p:cNvPicPr>
          <p:nvPr/>
        </p:nvPicPr>
        <p:blipFill>
          <a:blip r:embed="rId4">
            <a:alphaModFix amt="70000"/>
          </a:blip>
          <a:stretch>
            <a:fillRect/>
          </a:stretch>
        </p:blipFill>
        <p:spPr>
          <a:xfrm>
            <a:off x="4663440" y="4524982"/>
            <a:ext cx="1188720" cy="929414"/>
          </a:xfrm>
          <a:prstGeom prst="rect">
            <a:avLst/>
          </a:prstGeom>
        </p:spPr>
      </p:pic>
      <p:pic>
        <p:nvPicPr>
          <p:cNvPr id="29" name="Image 5" descr="assets/skyline_white.png"/>
          <p:cNvPicPr>
            <a:picLocks noChangeAspect="1"/>
          </p:cNvPicPr>
          <p:nvPr/>
        </p:nvPicPr>
        <p:blipFill>
          <a:blip r:embed="rId4">
            <a:alphaModFix amt="70000"/>
          </a:blip>
          <a:stretch>
            <a:fillRect/>
          </a:stretch>
        </p:blipFill>
        <p:spPr>
          <a:xfrm flipH="1">
            <a:off x="5897880" y="4524982"/>
            <a:ext cx="1188720" cy="929414"/>
          </a:xfrm>
          <a:prstGeom prst="rect">
            <a:avLst/>
          </a:prstGeom>
        </p:spPr>
      </p:pic>
      <p:pic>
        <p:nvPicPr>
          <p:cNvPr id="30" name="Image 6" descr="assets/skyline_white.png"/>
          <p:cNvPicPr>
            <a:picLocks noChangeAspect="1"/>
          </p:cNvPicPr>
          <p:nvPr/>
        </p:nvPicPr>
        <p:blipFill>
          <a:blip r:embed="rId4">
            <a:alphaModFix amt="70000"/>
          </a:blip>
          <a:stretch>
            <a:fillRect/>
          </a:stretch>
        </p:blipFill>
        <p:spPr>
          <a:xfrm>
            <a:off x="7132320" y="4524982"/>
            <a:ext cx="1188720" cy="929414"/>
          </a:xfrm>
          <a:prstGeom prst="rect">
            <a:avLst/>
          </a:prstGeom>
        </p:spPr>
      </p:pic>
      <p:pic>
        <p:nvPicPr>
          <p:cNvPr id="31" name="Image 7" descr="assets/skyline_white.png"/>
          <p:cNvPicPr>
            <a:picLocks noChangeAspect="1"/>
          </p:cNvPicPr>
          <p:nvPr/>
        </p:nvPicPr>
        <p:blipFill>
          <a:blip r:embed="rId4">
            <a:alphaModFix amt="70000"/>
          </a:blip>
          <a:stretch>
            <a:fillRect/>
          </a:stretch>
        </p:blipFill>
        <p:spPr>
          <a:xfrm flipH="1">
            <a:off x="8366760" y="4524982"/>
            <a:ext cx="1188720" cy="929414"/>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The problem &amp; our solution</a:t>
            </a:r>
            <a:endParaRPr lang="en-US" sz="3000" dirty="0"/>
          </a:p>
        </p:txBody>
      </p:sp>
      <p:sp>
        <p:nvSpPr>
          <p:cNvPr id="4" name="Text 1"/>
          <p:cNvSpPr txBox="1"/>
          <p:nvPr/>
        </p:nvSpPr>
        <p:spPr>
          <a:xfrm>
            <a:off x="457200" y="1234440"/>
            <a:ext cx="3657600" cy="274320"/>
          </a:xfrm>
          <a:prstGeom prst="rect">
            <a:avLst/>
          </a:prstGeom>
          <a:noFill/>
          <a:ln/>
        </p:spPr>
        <p:txBody>
          <a:bodyPr wrap="square" lIns="0" tIns="0" rIns="0" bIns="0" rtlCol="0" anchor="ctr"/>
          <a:lstStyle/>
          <a:p>
            <a:pPr marL="0" indent="0">
              <a:buNone/>
            </a:pPr>
            <a:r>
              <a:rPr lang="en-US" sz="1200" b="1" kern="0" spc="300" dirty="0">
                <a:solidFill>
                  <a:srgbClr val="217B56"/>
                </a:solidFill>
                <a:latin typeface="Calibri" pitchFamily="34" charset="0"/>
                <a:ea typeface="Calibri" pitchFamily="34" charset="-122"/>
                <a:cs typeface="Calibri" pitchFamily="34" charset="-120"/>
              </a:rPr>
              <a:t>THE PROBLEM</a:t>
            </a:r>
            <a:endParaRPr lang="en-US" sz="1200" dirty="0"/>
          </a:p>
        </p:txBody>
      </p:sp>
      <p:sp>
        <p:nvSpPr>
          <p:cNvPr id="5" name="Text 2"/>
          <p:cNvSpPr txBox="1"/>
          <p:nvPr/>
        </p:nvSpPr>
        <p:spPr>
          <a:xfrm>
            <a:off x="457200" y="1536192"/>
            <a:ext cx="3840480" cy="685800"/>
          </a:xfrm>
          <a:prstGeom prst="rect">
            <a:avLst/>
          </a:prstGeom>
          <a:noFill/>
          <a:ln/>
        </p:spPr>
        <p:txBody>
          <a:bodyPr wrap="square" lIns="0" tIns="0" rIns="0" bIns="0" rtlCol="0" anchor="t"/>
          <a:lstStyle/>
          <a:p>
            <a:pPr marL="0" indent="0">
              <a:buNone/>
            </a:pPr>
            <a:r>
              <a:rPr lang="en-US" sz="1900" b="1" dirty="0">
                <a:solidFill>
                  <a:srgbClr val="0D3D2C"/>
                </a:solidFill>
                <a:latin typeface="Cambria" pitchFamily="34" charset="0"/>
                <a:ea typeface="Cambria" pitchFamily="34" charset="-122"/>
                <a:cs typeface="Cambria" pitchFamily="34" charset="-120"/>
              </a:rPr>
              <a:t>Choosing a place in Riyadh takes too much effort</a:t>
            </a:r>
            <a:endParaRPr lang="en-US" sz="1900" dirty="0"/>
          </a:p>
        </p:txBody>
      </p:sp>
      <p:sp>
        <p:nvSpPr>
          <p:cNvPr id="6" name="Shape 3"/>
          <p:cNvSpPr/>
          <p:nvPr/>
        </p:nvSpPr>
        <p:spPr>
          <a:xfrm>
            <a:off x="457200" y="2377440"/>
            <a:ext cx="502920" cy="502920"/>
          </a:xfrm>
          <a:prstGeom prst="ellipse">
            <a:avLst/>
          </a:prstGeom>
          <a:solidFill>
            <a:srgbClr val="217B56"/>
          </a:solidFill>
          <a:ln w="12700">
            <a:solidFill>
              <a:srgbClr val="217B56"/>
            </a:solidFill>
            <a:prstDash val="solid"/>
          </a:ln>
        </p:spPr>
      </p:sp>
      <p:pic>
        <p:nvPicPr>
          <p:cNvPr id="7" name="Image 1" descr="preencoded.png"/>
          <p:cNvPicPr>
            <a:picLocks noChangeAspect="1"/>
          </p:cNvPicPr>
          <p:nvPr/>
        </p:nvPicPr>
        <p:blipFill>
          <a:blip r:embed="rId5"/>
          <a:stretch>
            <a:fillRect/>
          </a:stretch>
        </p:blipFill>
        <p:spPr>
          <a:xfrm>
            <a:off x="582930" y="2503170"/>
            <a:ext cx="251460" cy="251460"/>
          </a:xfrm>
          <a:prstGeom prst="rect">
            <a:avLst/>
          </a:prstGeom>
        </p:spPr>
      </p:pic>
      <p:sp>
        <p:nvSpPr>
          <p:cNvPr id="8" name="Text 4"/>
          <p:cNvSpPr txBox="1"/>
          <p:nvPr/>
        </p:nvSpPr>
        <p:spPr>
          <a:xfrm>
            <a:off x="1143000" y="2331720"/>
            <a:ext cx="3108960" cy="292608"/>
          </a:xfrm>
          <a:prstGeom prst="rect">
            <a:avLst/>
          </a:prstGeom>
          <a:noFill/>
          <a:ln/>
        </p:spPr>
        <p:txBody>
          <a:bodyPr wrap="square" lIns="0" tIns="0" rIns="0" bIns="0" rtlCol="0" anchor="ctr"/>
          <a:lstStyle/>
          <a:p>
            <a:pPr marL="0" indent="0">
              <a:buNone/>
            </a:pPr>
            <a:r>
              <a:rPr lang="en-US" sz="1400" b="1" dirty="0">
                <a:solidFill>
                  <a:srgbClr val="0D3D2C"/>
                </a:solidFill>
                <a:latin typeface="Cambria" pitchFamily="34" charset="0"/>
                <a:ea typeface="Cambria" pitchFamily="34" charset="-122"/>
                <a:cs typeface="Cambria" pitchFamily="34" charset="-120"/>
              </a:rPr>
              <a:t>Too many filters</a:t>
            </a:r>
            <a:endParaRPr lang="en-US" sz="1400" dirty="0"/>
          </a:p>
        </p:txBody>
      </p:sp>
      <p:sp>
        <p:nvSpPr>
          <p:cNvPr id="9" name="Text 5"/>
          <p:cNvSpPr txBox="1"/>
          <p:nvPr/>
        </p:nvSpPr>
        <p:spPr>
          <a:xfrm>
            <a:off x="1143000" y="2624328"/>
            <a:ext cx="3108960" cy="3657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Sidebars and sliders turn a simple question into a form.</a:t>
            </a:r>
            <a:endParaRPr lang="en-US" sz="1200" dirty="0"/>
          </a:p>
        </p:txBody>
      </p:sp>
      <p:sp>
        <p:nvSpPr>
          <p:cNvPr id="10" name="Shape 6"/>
          <p:cNvSpPr/>
          <p:nvPr/>
        </p:nvSpPr>
        <p:spPr>
          <a:xfrm>
            <a:off x="457200" y="3154680"/>
            <a:ext cx="502920" cy="502920"/>
          </a:xfrm>
          <a:prstGeom prst="ellipse">
            <a:avLst/>
          </a:prstGeom>
          <a:solidFill>
            <a:srgbClr val="217B56"/>
          </a:solidFill>
          <a:ln w="12700">
            <a:solidFill>
              <a:srgbClr val="217B56"/>
            </a:solidFill>
            <a:prstDash val="solid"/>
          </a:ln>
        </p:spPr>
      </p:sp>
      <p:pic>
        <p:nvPicPr>
          <p:cNvPr id="11" name="Image 2" descr="preencoded.png"/>
          <p:cNvPicPr>
            <a:picLocks noChangeAspect="1"/>
          </p:cNvPicPr>
          <p:nvPr/>
        </p:nvPicPr>
        <p:blipFill>
          <a:blip r:embed="rId6"/>
          <a:stretch>
            <a:fillRect/>
          </a:stretch>
        </p:blipFill>
        <p:spPr>
          <a:xfrm>
            <a:off x="582930" y="3280410"/>
            <a:ext cx="251460" cy="251460"/>
          </a:xfrm>
          <a:prstGeom prst="rect">
            <a:avLst/>
          </a:prstGeom>
        </p:spPr>
      </p:pic>
      <p:sp>
        <p:nvSpPr>
          <p:cNvPr id="12" name="Text 7"/>
          <p:cNvSpPr txBox="1"/>
          <p:nvPr/>
        </p:nvSpPr>
        <p:spPr>
          <a:xfrm>
            <a:off x="1143000" y="3108960"/>
            <a:ext cx="3108960" cy="292608"/>
          </a:xfrm>
          <a:prstGeom prst="rect">
            <a:avLst/>
          </a:prstGeom>
          <a:noFill/>
          <a:ln/>
        </p:spPr>
        <p:txBody>
          <a:bodyPr wrap="square" lIns="0" tIns="0" rIns="0" bIns="0" rtlCol="0" anchor="ctr"/>
          <a:lstStyle/>
          <a:p>
            <a:pPr marL="0" indent="0">
              <a:buNone/>
            </a:pPr>
            <a:r>
              <a:rPr lang="en-US" sz="1400" b="1" dirty="0">
                <a:solidFill>
                  <a:srgbClr val="0D3D2C"/>
                </a:solidFill>
                <a:latin typeface="Cambria" pitchFamily="34" charset="0"/>
                <a:ea typeface="Cambria" pitchFamily="34" charset="-122"/>
                <a:cs typeface="Cambria" pitchFamily="34" charset="-120"/>
              </a:rPr>
              <a:t>Budget gets ignored</a:t>
            </a:r>
            <a:endParaRPr lang="en-US" sz="1400" dirty="0"/>
          </a:p>
        </p:txBody>
      </p:sp>
      <p:sp>
        <p:nvSpPr>
          <p:cNvPr id="13" name="Text 8"/>
          <p:cNvSpPr txBox="1"/>
          <p:nvPr/>
        </p:nvSpPr>
        <p:spPr>
          <a:xfrm>
            <a:off x="1143000" y="3401568"/>
            <a:ext cx="3108960" cy="3657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Many apps rank by rating, not by what you want to spend.</a:t>
            </a:r>
            <a:endParaRPr lang="en-US" sz="1200" dirty="0"/>
          </a:p>
        </p:txBody>
      </p:sp>
      <p:sp>
        <p:nvSpPr>
          <p:cNvPr id="14" name="Shape 9"/>
          <p:cNvSpPr/>
          <p:nvPr/>
        </p:nvSpPr>
        <p:spPr>
          <a:xfrm>
            <a:off x="457200" y="3931920"/>
            <a:ext cx="502920" cy="502920"/>
          </a:xfrm>
          <a:prstGeom prst="ellipse">
            <a:avLst/>
          </a:prstGeom>
          <a:solidFill>
            <a:srgbClr val="217B56"/>
          </a:solidFill>
          <a:ln w="12700">
            <a:solidFill>
              <a:srgbClr val="217B56"/>
            </a:solidFill>
            <a:prstDash val="solid"/>
          </a:ln>
        </p:spPr>
      </p:sp>
      <p:pic>
        <p:nvPicPr>
          <p:cNvPr id="15" name="Image 3" descr="preencoded.png"/>
          <p:cNvPicPr>
            <a:picLocks noChangeAspect="1"/>
          </p:cNvPicPr>
          <p:nvPr/>
        </p:nvPicPr>
        <p:blipFill>
          <a:blip r:embed="rId7"/>
          <a:stretch>
            <a:fillRect/>
          </a:stretch>
        </p:blipFill>
        <p:spPr>
          <a:xfrm>
            <a:off x="582930" y="4057650"/>
            <a:ext cx="251460" cy="251460"/>
          </a:xfrm>
          <a:prstGeom prst="rect">
            <a:avLst/>
          </a:prstGeom>
        </p:spPr>
      </p:pic>
      <p:sp>
        <p:nvSpPr>
          <p:cNvPr id="16" name="Text 10"/>
          <p:cNvSpPr txBox="1"/>
          <p:nvPr/>
        </p:nvSpPr>
        <p:spPr>
          <a:xfrm>
            <a:off x="1143000" y="3886200"/>
            <a:ext cx="3108960" cy="292608"/>
          </a:xfrm>
          <a:prstGeom prst="rect">
            <a:avLst/>
          </a:prstGeom>
          <a:noFill/>
          <a:ln/>
        </p:spPr>
        <p:txBody>
          <a:bodyPr wrap="square" lIns="0" tIns="0" rIns="0" bIns="0" rtlCol="0" anchor="ctr"/>
          <a:lstStyle/>
          <a:p>
            <a:pPr marL="0" indent="0">
              <a:buNone/>
            </a:pPr>
            <a:r>
              <a:rPr lang="en-US" sz="1400" b="1" dirty="0">
                <a:solidFill>
                  <a:srgbClr val="0D3D2C"/>
                </a:solidFill>
                <a:latin typeface="Cambria" pitchFamily="34" charset="0"/>
                <a:ea typeface="Cambria" pitchFamily="34" charset="-122"/>
                <a:cs typeface="Cambria" pitchFamily="34" charset="-120"/>
              </a:rPr>
              <a:t>Repetitive results</a:t>
            </a:r>
            <a:endParaRPr lang="en-US" sz="1400" dirty="0"/>
          </a:p>
        </p:txBody>
      </p:sp>
      <p:sp>
        <p:nvSpPr>
          <p:cNvPr id="17" name="Text 11"/>
          <p:cNvSpPr txBox="1"/>
          <p:nvPr/>
        </p:nvSpPr>
        <p:spPr>
          <a:xfrm>
            <a:off x="1143000" y="4178808"/>
            <a:ext cx="3108960" cy="3657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Repeat a search and the list barely changes.</a:t>
            </a:r>
            <a:endParaRPr lang="en-US" sz="1200" dirty="0"/>
          </a:p>
        </p:txBody>
      </p:sp>
      <p:pic>
        <p:nvPicPr>
          <p:cNvPr id="18" name="Image 4" descr="preencoded.png"/>
          <p:cNvPicPr>
            <a:picLocks noChangeAspect="1"/>
          </p:cNvPicPr>
          <p:nvPr/>
        </p:nvPicPr>
        <p:blipFill>
          <a:blip r:embed="rId8"/>
          <a:stretch>
            <a:fillRect/>
          </a:stretch>
        </p:blipFill>
        <p:spPr>
          <a:xfrm>
            <a:off x="4526280" y="2788920"/>
            <a:ext cx="219456" cy="219456"/>
          </a:xfrm>
          <a:prstGeom prst="rect">
            <a:avLst/>
          </a:prstGeom>
        </p:spPr>
      </p:pic>
      <p:sp>
        <p:nvSpPr>
          <p:cNvPr id="19" name="Shape 12"/>
          <p:cNvSpPr/>
          <p:nvPr/>
        </p:nvSpPr>
        <p:spPr>
          <a:xfrm>
            <a:off x="4937760" y="1234440"/>
            <a:ext cx="3749040" cy="3383280"/>
          </a:xfrm>
          <a:prstGeom prst="roundRect">
            <a:avLst>
              <a:gd name="adj" fmla="val 4865"/>
            </a:avLst>
          </a:prstGeom>
          <a:solidFill>
            <a:srgbClr val="0E4B35"/>
          </a:solidFill>
          <a:ln w="12700">
            <a:solidFill>
              <a:srgbClr val="0E4B35"/>
            </a:solidFill>
            <a:prstDash val="solid"/>
          </a:ln>
          <a:effectLst>
            <a:outerShdw blurRad="127000" dist="25400" dir="5400000" algn="bl" rotWithShape="0">
              <a:srgbClr val="0D3D2C">
                <a:alpha val="12000"/>
              </a:srgbClr>
            </a:outerShdw>
          </a:effectLst>
        </p:spPr>
      </p:sp>
      <p:sp>
        <p:nvSpPr>
          <p:cNvPr id="20" name="Text 13"/>
          <p:cNvSpPr txBox="1"/>
          <p:nvPr/>
        </p:nvSpPr>
        <p:spPr>
          <a:xfrm>
            <a:off x="5257800" y="1463040"/>
            <a:ext cx="3108960" cy="274320"/>
          </a:xfrm>
          <a:prstGeom prst="rect">
            <a:avLst/>
          </a:prstGeom>
          <a:noFill/>
          <a:ln/>
        </p:spPr>
        <p:txBody>
          <a:bodyPr wrap="square" lIns="0" tIns="0" rIns="0" bIns="0" rtlCol="0" anchor="ctr"/>
          <a:lstStyle/>
          <a:p>
            <a:pPr marL="0" indent="0">
              <a:buNone/>
            </a:pPr>
            <a:r>
              <a:rPr lang="en-US" sz="1200" b="1" kern="0" spc="300" dirty="0">
                <a:solidFill>
                  <a:srgbClr val="89C089"/>
                </a:solidFill>
                <a:latin typeface="Calibri" pitchFamily="34" charset="0"/>
                <a:ea typeface="Calibri" pitchFamily="34" charset="-122"/>
                <a:cs typeface="Calibri" pitchFamily="34" charset="-120"/>
              </a:rPr>
              <a:t>OUR SOLUTION</a:t>
            </a:r>
            <a:endParaRPr lang="en-US" sz="1200" dirty="0"/>
          </a:p>
        </p:txBody>
      </p:sp>
      <p:sp>
        <p:nvSpPr>
          <p:cNvPr id="21" name="Text 14"/>
          <p:cNvSpPr txBox="1"/>
          <p:nvPr/>
        </p:nvSpPr>
        <p:spPr>
          <a:xfrm>
            <a:off x="5257800" y="1783080"/>
            <a:ext cx="3200400" cy="822960"/>
          </a:xfrm>
          <a:prstGeom prst="rect">
            <a:avLst/>
          </a:prstGeom>
          <a:noFill/>
          <a:ln/>
        </p:spPr>
        <p:txBody>
          <a:bodyPr wrap="square" lIns="0" tIns="0" rIns="0" bIns="0" rtlCol="0" anchor="t"/>
          <a:lstStyle/>
          <a:p>
            <a:pPr marL="0" indent="0">
              <a:buNone/>
            </a:pPr>
            <a:r>
              <a:rPr lang="en-US" sz="2100" b="1" dirty="0">
                <a:solidFill>
                  <a:srgbClr val="FFFFFF"/>
                </a:solidFill>
                <a:latin typeface="Cambria" pitchFamily="34" charset="0"/>
                <a:ea typeface="Cambria" pitchFamily="34" charset="-122"/>
                <a:cs typeface="Cambria" pitchFamily="34" charset="-120"/>
              </a:rPr>
              <a:t>Say what you want. Find the right place.</a:t>
            </a:r>
            <a:endParaRPr lang="en-US" sz="2100" dirty="0"/>
          </a:p>
        </p:txBody>
      </p:sp>
      <p:sp>
        <p:nvSpPr>
          <p:cNvPr id="22" name="Text 15"/>
          <p:cNvSpPr txBox="1"/>
          <p:nvPr/>
        </p:nvSpPr>
        <p:spPr>
          <a:xfrm>
            <a:off x="5257800" y="2651760"/>
            <a:ext cx="3200400" cy="914400"/>
          </a:xfrm>
          <a:prstGeom prst="rect">
            <a:avLst/>
          </a:prstGeom>
          <a:noFill/>
          <a:ln/>
        </p:spPr>
        <p:txBody>
          <a:bodyPr wrap="square" lIns="0" tIns="0" rIns="0" bIns="0" rtlCol="0" anchor="t"/>
          <a:lstStyle/>
          <a:p>
            <a:pPr marL="0" indent="0">
              <a:buNone/>
            </a:pPr>
            <a:r>
              <a:rPr lang="en-US" sz="1300" dirty="0">
                <a:solidFill>
                  <a:srgbClr val="CFE6D5"/>
                </a:solidFill>
                <a:latin typeface="Calibri" pitchFamily="34" charset="0"/>
                <a:ea typeface="Calibri" pitchFamily="34" charset="-122"/>
                <a:cs typeface="Calibri" pitchFamily="34" charset="-120"/>
              </a:rPr>
              <a:t>WAIN is an AI agent that understands a normal sentence your budget, the kind of place, the time and finds places in Riyadh that fit.</a:t>
            </a:r>
            <a:endParaRPr lang="en-US" sz="1300" dirty="0"/>
          </a:p>
        </p:txBody>
      </p:sp>
      <p:sp>
        <p:nvSpPr>
          <p:cNvPr id="23" name="Shape 16"/>
          <p:cNvSpPr/>
          <p:nvPr/>
        </p:nvSpPr>
        <p:spPr>
          <a:xfrm>
            <a:off x="5257800" y="3749040"/>
            <a:ext cx="3108960" cy="548640"/>
          </a:xfrm>
          <a:prstGeom prst="roundRect">
            <a:avLst>
              <a:gd name="adj" fmla="val 50000"/>
            </a:avLst>
          </a:prstGeom>
          <a:solidFill>
            <a:srgbClr val="FFFFFF"/>
          </a:solidFill>
          <a:ln w="19050">
            <a:solidFill>
              <a:srgbClr val="89C089"/>
            </a:solidFill>
            <a:prstDash val="solid"/>
          </a:ln>
        </p:spPr>
      </p:sp>
      <p:pic>
        <p:nvPicPr>
          <p:cNvPr id="24" name="Image 5" descr="preencoded.png"/>
          <p:cNvPicPr>
            <a:picLocks noChangeAspect="1"/>
          </p:cNvPicPr>
          <p:nvPr/>
        </p:nvPicPr>
        <p:blipFill>
          <a:blip r:embed="rId9"/>
          <a:stretch>
            <a:fillRect/>
          </a:stretch>
        </p:blipFill>
        <p:spPr>
          <a:xfrm>
            <a:off x="5440680" y="3913632"/>
            <a:ext cx="201168" cy="201168"/>
          </a:xfrm>
          <a:prstGeom prst="rect">
            <a:avLst/>
          </a:prstGeom>
        </p:spPr>
      </p:pic>
      <p:sp>
        <p:nvSpPr>
          <p:cNvPr id="25" name="Text 17"/>
          <p:cNvSpPr txBox="1"/>
          <p:nvPr/>
        </p:nvSpPr>
        <p:spPr>
          <a:xfrm>
            <a:off x="5760720" y="3749040"/>
            <a:ext cx="2560320" cy="548640"/>
          </a:xfrm>
          <a:prstGeom prst="rect">
            <a:avLst/>
          </a:prstGeom>
          <a:noFill/>
          <a:ln/>
        </p:spPr>
        <p:txBody>
          <a:bodyPr wrap="square" lIns="0" tIns="0" rIns="0" bIns="0" rtlCol="0" anchor="ctr"/>
          <a:lstStyle/>
          <a:p>
            <a:pPr marL="0" indent="0">
              <a:buNone/>
            </a:pPr>
            <a:r>
              <a:rPr lang="en-US" sz="1200" dirty="0">
                <a:solidFill>
                  <a:srgbClr val="0D3D2C"/>
                </a:solidFill>
                <a:latin typeface="Calibri" pitchFamily="34" charset="0"/>
                <a:ea typeface="Calibri" pitchFamily="34" charset="-122"/>
                <a:cs typeface="Calibri" pitchFamily="34" charset="-120"/>
              </a:rPr>
              <a:t>Italian dinner, 100 per person</a:t>
            </a:r>
            <a:endParaRPr lang="en-US" sz="120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How it works</a:t>
            </a:r>
            <a:endParaRPr lang="en-US" sz="3000" dirty="0"/>
          </a:p>
        </p:txBody>
      </p:sp>
      <p:sp>
        <p:nvSpPr>
          <p:cNvPr id="4" name="Shape 1"/>
          <p:cNvSpPr/>
          <p:nvPr/>
        </p:nvSpPr>
        <p:spPr>
          <a:xfrm>
            <a:off x="457200"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sp>
      <p:sp>
        <p:nvSpPr>
          <p:cNvPr id="5" name="Shape 2"/>
          <p:cNvSpPr/>
          <p:nvPr/>
        </p:nvSpPr>
        <p:spPr>
          <a:xfrm>
            <a:off x="658368" y="1572768"/>
            <a:ext cx="640080" cy="640080"/>
          </a:xfrm>
          <a:prstGeom prst="ellipse">
            <a:avLst/>
          </a:prstGeom>
          <a:solidFill>
            <a:srgbClr val="217B56"/>
          </a:solidFill>
          <a:ln w="12700">
            <a:solidFill>
              <a:srgbClr val="217B56"/>
            </a:solidFill>
            <a:prstDash val="solid"/>
          </a:ln>
        </p:spPr>
      </p:sp>
      <p:pic>
        <p:nvPicPr>
          <p:cNvPr id="6" name="Image 1" descr="preencoded.png"/>
          <p:cNvPicPr>
            <a:picLocks noChangeAspect="1"/>
          </p:cNvPicPr>
          <p:nvPr/>
        </p:nvPicPr>
        <p:blipFill>
          <a:blip r:embed="rId5"/>
          <a:stretch>
            <a:fillRect/>
          </a:stretch>
        </p:blipFill>
        <p:spPr>
          <a:xfrm>
            <a:off x="818388" y="1732788"/>
            <a:ext cx="320040" cy="320040"/>
          </a:xfrm>
          <a:prstGeom prst="rect">
            <a:avLst/>
          </a:prstGeom>
        </p:spPr>
      </p:pic>
      <p:sp>
        <p:nvSpPr>
          <p:cNvPr id="7" name="Text 3"/>
          <p:cNvSpPr txBox="1"/>
          <p:nvPr/>
        </p:nvSpPr>
        <p:spPr>
          <a:xfrm>
            <a:off x="658368"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01</a:t>
            </a:r>
            <a:endParaRPr lang="en-US" sz="1000" dirty="0"/>
          </a:p>
        </p:txBody>
      </p:sp>
      <p:sp>
        <p:nvSpPr>
          <p:cNvPr id="8" name="Text 4"/>
          <p:cNvSpPr txBox="1"/>
          <p:nvPr/>
        </p:nvSpPr>
        <p:spPr>
          <a:xfrm>
            <a:off x="658368"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Ask</a:t>
            </a:r>
            <a:endParaRPr lang="en-US" sz="1700" dirty="0"/>
          </a:p>
        </p:txBody>
      </p:sp>
      <p:sp>
        <p:nvSpPr>
          <p:cNvPr id="9" name="Text 5"/>
          <p:cNvSpPr txBox="1"/>
          <p:nvPr/>
        </p:nvSpPr>
        <p:spPr>
          <a:xfrm>
            <a:off x="658368"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Type one sentence: budget per person, place type, area, rating.</a:t>
            </a:r>
            <a:endParaRPr lang="en-US" sz="1200" dirty="0"/>
          </a:p>
        </p:txBody>
      </p:sp>
      <p:pic>
        <p:nvPicPr>
          <p:cNvPr id="10" name="Image 2" descr="preencoded.png"/>
          <p:cNvPicPr>
            <a:picLocks noChangeAspect="1"/>
          </p:cNvPicPr>
          <p:nvPr/>
        </p:nvPicPr>
        <p:blipFill>
          <a:blip r:embed="rId6"/>
          <a:stretch>
            <a:fillRect/>
          </a:stretch>
        </p:blipFill>
        <p:spPr>
          <a:xfrm>
            <a:off x="2359152" y="2651760"/>
            <a:ext cx="182880" cy="182880"/>
          </a:xfrm>
          <a:prstGeom prst="rect">
            <a:avLst/>
          </a:prstGeom>
        </p:spPr>
      </p:pic>
      <p:sp>
        <p:nvSpPr>
          <p:cNvPr id="11" name="Shape 6"/>
          <p:cNvSpPr/>
          <p:nvPr/>
        </p:nvSpPr>
        <p:spPr>
          <a:xfrm>
            <a:off x="2575865"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sp>
      <p:sp>
        <p:nvSpPr>
          <p:cNvPr id="12" name="Shape 7"/>
          <p:cNvSpPr/>
          <p:nvPr/>
        </p:nvSpPr>
        <p:spPr>
          <a:xfrm>
            <a:off x="2777033" y="1572768"/>
            <a:ext cx="640080" cy="640080"/>
          </a:xfrm>
          <a:prstGeom prst="ellipse">
            <a:avLst/>
          </a:prstGeom>
          <a:solidFill>
            <a:srgbClr val="217B56"/>
          </a:solidFill>
          <a:ln w="12700">
            <a:solidFill>
              <a:srgbClr val="217B56"/>
            </a:solidFill>
            <a:prstDash val="solid"/>
          </a:ln>
        </p:spPr>
      </p:sp>
      <p:pic>
        <p:nvPicPr>
          <p:cNvPr id="13" name="Image 3" descr="preencoded.png"/>
          <p:cNvPicPr>
            <a:picLocks noChangeAspect="1"/>
          </p:cNvPicPr>
          <p:nvPr/>
        </p:nvPicPr>
        <p:blipFill>
          <a:blip r:embed="rId7"/>
          <a:stretch>
            <a:fillRect/>
          </a:stretch>
        </p:blipFill>
        <p:spPr>
          <a:xfrm>
            <a:off x="2937053" y="1732788"/>
            <a:ext cx="320040" cy="320040"/>
          </a:xfrm>
          <a:prstGeom prst="rect">
            <a:avLst/>
          </a:prstGeom>
        </p:spPr>
      </p:pic>
      <p:sp>
        <p:nvSpPr>
          <p:cNvPr id="14" name="Text 8"/>
          <p:cNvSpPr txBox="1"/>
          <p:nvPr/>
        </p:nvSpPr>
        <p:spPr>
          <a:xfrm>
            <a:off x="2777033"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02</a:t>
            </a:r>
            <a:endParaRPr lang="en-US" sz="1000" dirty="0"/>
          </a:p>
        </p:txBody>
      </p:sp>
      <p:sp>
        <p:nvSpPr>
          <p:cNvPr id="15" name="Text 9"/>
          <p:cNvSpPr txBox="1"/>
          <p:nvPr/>
        </p:nvSpPr>
        <p:spPr>
          <a:xfrm>
            <a:off x="2777033"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Understand</a:t>
            </a:r>
            <a:endParaRPr lang="en-US" sz="1700" dirty="0"/>
          </a:p>
        </p:txBody>
      </p:sp>
      <p:sp>
        <p:nvSpPr>
          <p:cNvPr id="16" name="Text 10"/>
          <p:cNvSpPr txBox="1"/>
          <p:nvPr/>
        </p:nvSpPr>
        <p:spPr>
          <a:xfrm>
            <a:off x="2777033"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An AI agent turns your sentence into structured intent.</a:t>
            </a:r>
            <a:endParaRPr lang="en-US" sz="1200" dirty="0"/>
          </a:p>
        </p:txBody>
      </p:sp>
      <p:pic>
        <p:nvPicPr>
          <p:cNvPr id="17" name="Image 4" descr="preencoded.png"/>
          <p:cNvPicPr>
            <a:picLocks noChangeAspect="1"/>
          </p:cNvPicPr>
          <p:nvPr/>
        </p:nvPicPr>
        <p:blipFill>
          <a:blip r:embed="rId6"/>
          <a:stretch>
            <a:fillRect/>
          </a:stretch>
        </p:blipFill>
        <p:spPr>
          <a:xfrm>
            <a:off x="4477817" y="2651760"/>
            <a:ext cx="182880" cy="182880"/>
          </a:xfrm>
          <a:prstGeom prst="rect">
            <a:avLst/>
          </a:prstGeom>
        </p:spPr>
      </p:pic>
      <p:sp>
        <p:nvSpPr>
          <p:cNvPr id="18" name="Shape 11"/>
          <p:cNvSpPr/>
          <p:nvPr/>
        </p:nvSpPr>
        <p:spPr>
          <a:xfrm>
            <a:off x="4694530"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sp>
      <p:sp>
        <p:nvSpPr>
          <p:cNvPr id="19" name="Shape 12"/>
          <p:cNvSpPr/>
          <p:nvPr/>
        </p:nvSpPr>
        <p:spPr>
          <a:xfrm>
            <a:off x="4895698" y="1572768"/>
            <a:ext cx="640080" cy="640080"/>
          </a:xfrm>
          <a:prstGeom prst="ellipse">
            <a:avLst/>
          </a:prstGeom>
          <a:solidFill>
            <a:srgbClr val="217B56"/>
          </a:solidFill>
          <a:ln w="12700">
            <a:solidFill>
              <a:srgbClr val="217B56"/>
            </a:solidFill>
            <a:prstDash val="solid"/>
          </a:ln>
        </p:spPr>
      </p:sp>
      <p:pic>
        <p:nvPicPr>
          <p:cNvPr id="20" name="Image 5" descr="preencoded.png"/>
          <p:cNvPicPr>
            <a:picLocks noChangeAspect="1"/>
          </p:cNvPicPr>
          <p:nvPr/>
        </p:nvPicPr>
        <p:blipFill>
          <a:blip r:embed="rId8"/>
          <a:stretch>
            <a:fillRect/>
          </a:stretch>
        </p:blipFill>
        <p:spPr>
          <a:xfrm>
            <a:off x="5055718" y="1732788"/>
            <a:ext cx="320040" cy="320040"/>
          </a:xfrm>
          <a:prstGeom prst="rect">
            <a:avLst/>
          </a:prstGeom>
        </p:spPr>
      </p:pic>
      <p:sp>
        <p:nvSpPr>
          <p:cNvPr id="21" name="Text 13"/>
          <p:cNvSpPr txBox="1"/>
          <p:nvPr/>
        </p:nvSpPr>
        <p:spPr>
          <a:xfrm>
            <a:off x="4895698"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03</a:t>
            </a:r>
            <a:endParaRPr lang="en-US" sz="1000" dirty="0"/>
          </a:p>
        </p:txBody>
      </p:sp>
      <p:sp>
        <p:nvSpPr>
          <p:cNvPr id="22" name="Text 14"/>
          <p:cNvSpPr txBox="1"/>
          <p:nvPr/>
        </p:nvSpPr>
        <p:spPr>
          <a:xfrm>
            <a:off x="4895698"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Search</a:t>
            </a:r>
            <a:endParaRPr lang="en-US" sz="1700" dirty="0"/>
          </a:p>
        </p:txBody>
      </p:sp>
      <p:sp>
        <p:nvSpPr>
          <p:cNvPr id="23" name="Text 15"/>
          <p:cNvSpPr txBox="1"/>
          <p:nvPr/>
        </p:nvSpPr>
        <p:spPr>
          <a:xfrm>
            <a:off x="4895698"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Exact filters on the places database find matches for budget, type and rating</a:t>
            </a:r>
            <a:endParaRPr lang="en-US" sz="1200" dirty="0"/>
          </a:p>
        </p:txBody>
      </p:sp>
      <p:pic>
        <p:nvPicPr>
          <p:cNvPr id="24" name="Image 6" descr="preencoded.png"/>
          <p:cNvPicPr>
            <a:picLocks noChangeAspect="1"/>
          </p:cNvPicPr>
          <p:nvPr/>
        </p:nvPicPr>
        <p:blipFill>
          <a:blip r:embed="rId6"/>
          <a:stretch>
            <a:fillRect/>
          </a:stretch>
        </p:blipFill>
        <p:spPr>
          <a:xfrm>
            <a:off x="6596482" y="2651760"/>
            <a:ext cx="182880" cy="182880"/>
          </a:xfrm>
          <a:prstGeom prst="rect">
            <a:avLst/>
          </a:prstGeom>
        </p:spPr>
      </p:pic>
      <p:sp>
        <p:nvSpPr>
          <p:cNvPr id="25" name="Shape 16"/>
          <p:cNvSpPr/>
          <p:nvPr/>
        </p:nvSpPr>
        <p:spPr>
          <a:xfrm>
            <a:off x="6813194"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sp>
      <p:sp>
        <p:nvSpPr>
          <p:cNvPr id="26" name="Shape 17"/>
          <p:cNvSpPr/>
          <p:nvPr/>
        </p:nvSpPr>
        <p:spPr>
          <a:xfrm>
            <a:off x="7014362" y="1572768"/>
            <a:ext cx="640080" cy="640080"/>
          </a:xfrm>
          <a:prstGeom prst="ellipse">
            <a:avLst/>
          </a:prstGeom>
          <a:solidFill>
            <a:srgbClr val="217B56"/>
          </a:solidFill>
          <a:ln w="12700">
            <a:solidFill>
              <a:srgbClr val="217B56"/>
            </a:solidFill>
            <a:prstDash val="solid"/>
          </a:ln>
        </p:spPr>
      </p:sp>
      <p:pic>
        <p:nvPicPr>
          <p:cNvPr id="27" name="Image 7" descr="preencoded.png"/>
          <p:cNvPicPr>
            <a:picLocks noChangeAspect="1"/>
          </p:cNvPicPr>
          <p:nvPr/>
        </p:nvPicPr>
        <p:blipFill>
          <a:blip r:embed="rId9"/>
          <a:stretch>
            <a:fillRect/>
          </a:stretch>
        </p:blipFill>
        <p:spPr>
          <a:xfrm>
            <a:off x="7174382" y="1732788"/>
            <a:ext cx="320040" cy="320040"/>
          </a:xfrm>
          <a:prstGeom prst="rect">
            <a:avLst/>
          </a:prstGeom>
        </p:spPr>
      </p:pic>
      <p:sp>
        <p:nvSpPr>
          <p:cNvPr id="28" name="Text 18"/>
          <p:cNvSpPr txBox="1"/>
          <p:nvPr/>
        </p:nvSpPr>
        <p:spPr>
          <a:xfrm>
            <a:off x="7014362"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04</a:t>
            </a:r>
            <a:endParaRPr lang="en-US" sz="1000" dirty="0"/>
          </a:p>
        </p:txBody>
      </p:sp>
      <p:sp>
        <p:nvSpPr>
          <p:cNvPr id="29" name="Text 19"/>
          <p:cNvSpPr txBox="1"/>
          <p:nvPr/>
        </p:nvSpPr>
        <p:spPr>
          <a:xfrm>
            <a:off x="7014362"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Recommend</a:t>
            </a:r>
            <a:endParaRPr lang="en-US" sz="1700" dirty="0"/>
          </a:p>
        </p:txBody>
      </p:sp>
      <p:sp>
        <p:nvSpPr>
          <p:cNvPr id="30" name="Text 20"/>
          <p:cNvSpPr txBox="1"/>
          <p:nvPr/>
        </p:nvSpPr>
        <p:spPr>
          <a:xfrm>
            <a:off x="7014362"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WAIN picks the places that truly match your Preferences.</a:t>
            </a:r>
            <a:endParaRPr lang="en-US" sz="1200" dirty="0"/>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Tools &amp; technology</a:t>
            </a:r>
            <a:endParaRPr lang="en-US" sz="3000" dirty="0"/>
          </a:p>
        </p:txBody>
      </p:sp>
      <p:sp>
        <p:nvSpPr>
          <p:cNvPr id="4" name="Shape 1"/>
          <p:cNvSpPr/>
          <p:nvPr/>
        </p:nvSpPr>
        <p:spPr>
          <a:xfrm>
            <a:off x="457200" y="1325880"/>
            <a:ext cx="2560320" cy="3200400"/>
          </a:xfrm>
          <a:prstGeom prst="roundRect">
            <a:avLst>
              <a:gd name="adj" fmla="val 535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sp>
      <p:sp>
        <p:nvSpPr>
          <p:cNvPr id="5" name="Text 2"/>
          <p:cNvSpPr txBox="1"/>
          <p:nvPr/>
        </p:nvSpPr>
        <p:spPr>
          <a:xfrm>
            <a:off x="685800" y="1481328"/>
            <a:ext cx="2103120" cy="274320"/>
          </a:xfrm>
          <a:prstGeom prst="rect">
            <a:avLst/>
          </a:prstGeom>
          <a:noFill/>
          <a:ln/>
        </p:spPr>
        <p:txBody>
          <a:bodyPr wrap="square" lIns="0" tIns="0" rIns="0" bIns="0" rtlCol="0" anchor="ctr"/>
          <a:lstStyle/>
          <a:p>
            <a:pPr marL="0" indent="0">
              <a:buNone/>
            </a:pPr>
            <a:r>
              <a:rPr lang="en-US" sz="1100" b="1" kern="0" spc="300" dirty="0">
                <a:solidFill>
                  <a:srgbClr val="377C5B"/>
                </a:solidFill>
                <a:latin typeface="Calibri" pitchFamily="34" charset="0"/>
                <a:ea typeface="Calibri" pitchFamily="34" charset="-122"/>
                <a:cs typeface="Calibri" pitchFamily="34" charset="-120"/>
              </a:rPr>
              <a:t>AI</a:t>
            </a:r>
            <a:endParaRPr lang="en-US" sz="1100" dirty="0"/>
          </a:p>
        </p:txBody>
      </p:sp>
      <p:sp>
        <p:nvSpPr>
          <p:cNvPr id="6" name="Shape 3"/>
          <p:cNvSpPr/>
          <p:nvPr/>
        </p:nvSpPr>
        <p:spPr>
          <a:xfrm>
            <a:off x="685800" y="1920240"/>
            <a:ext cx="548640" cy="548640"/>
          </a:xfrm>
          <a:prstGeom prst="ellipse">
            <a:avLst/>
          </a:prstGeom>
          <a:solidFill>
            <a:srgbClr val="217B56"/>
          </a:solidFill>
          <a:ln w="12700">
            <a:solidFill>
              <a:srgbClr val="217B56"/>
            </a:solidFill>
            <a:prstDash val="solid"/>
          </a:ln>
        </p:spPr>
      </p:sp>
      <p:pic>
        <p:nvPicPr>
          <p:cNvPr id="7" name="Image 1" descr="preencoded.png"/>
          <p:cNvPicPr>
            <a:picLocks noChangeAspect="1"/>
          </p:cNvPicPr>
          <p:nvPr/>
        </p:nvPicPr>
        <p:blipFill>
          <a:blip r:embed="rId5"/>
          <a:stretch>
            <a:fillRect/>
          </a:stretch>
        </p:blipFill>
        <p:spPr>
          <a:xfrm>
            <a:off x="822960" y="2057400"/>
            <a:ext cx="274320" cy="274320"/>
          </a:xfrm>
          <a:prstGeom prst="rect">
            <a:avLst/>
          </a:prstGeom>
        </p:spPr>
      </p:pic>
      <p:sp>
        <p:nvSpPr>
          <p:cNvPr id="8" name="Text 4"/>
          <p:cNvSpPr txBox="1"/>
          <p:nvPr/>
        </p:nvSpPr>
        <p:spPr>
          <a:xfrm>
            <a:off x="1371600" y="1901952"/>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OpenAI API</a:t>
            </a:r>
            <a:endParaRPr lang="en-US" sz="1500" dirty="0"/>
          </a:p>
        </p:txBody>
      </p:sp>
      <p:sp>
        <p:nvSpPr>
          <p:cNvPr id="9" name="Text 5"/>
          <p:cNvSpPr txBox="1"/>
          <p:nvPr/>
        </p:nvSpPr>
        <p:spPr>
          <a:xfrm>
            <a:off x="1371600" y="2194560"/>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The LLM that understands your sentence</a:t>
            </a:r>
            <a:endParaRPr lang="en-US" sz="1100" dirty="0"/>
          </a:p>
        </p:txBody>
      </p:sp>
      <p:sp>
        <p:nvSpPr>
          <p:cNvPr id="14" name="Shape 9"/>
          <p:cNvSpPr/>
          <p:nvPr/>
        </p:nvSpPr>
        <p:spPr>
          <a:xfrm>
            <a:off x="3291840" y="1325880"/>
            <a:ext cx="2560320" cy="3200400"/>
          </a:xfrm>
          <a:prstGeom prst="roundRect">
            <a:avLst>
              <a:gd name="adj" fmla="val 535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sp>
      <p:sp>
        <p:nvSpPr>
          <p:cNvPr id="15" name="Text 10"/>
          <p:cNvSpPr txBox="1"/>
          <p:nvPr/>
        </p:nvSpPr>
        <p:spPr>
          <a:xfrm>
            <a:off x="3520440" y="1481328"/>
            <a:ext cx="2103120" cy="274320"/>
          </a:xfrm>
          <a:prstGeom prst="rect">
            <a:avLst/>
          </a:prstGeom>
          <a:noFill/>
          <a:ln/>
        </p:spPr>
        <p:txBody>
          <a:bodyPr wrap="square" lIns="0" tIns="0" rIns="0" bIns="0" rtlCol="0" anchor="ctr"/>
          <a:lstStyle/>
          <a:p>
            <a:pPr marL="0" indent="0">
              <a:buNone/>
            </a:pPr>
            <a:r>
              <a:rPr lang="en-US" sz="1100" b="1" kern="0" spc="300" dirty="0">
                <a:solidFill>
                  <a:srgbClr val="377C5B"/>
                </a:solidFill>
                <a:latin typeface="Calibri" pitchFamily="34" charset="0"/>
                <a:ea typeface="Calibri" pitchFamily="34" charset="-122"/>
                <a:cs typeface="Calibri" pitchFamily="34" charset="-120"/>
              </a:rPr>
              <a:t>BUILD</a:t>
            </a:r>
            <a:endParaRPr lang="en-US" sz="1100" dirty="0"/>
          </a:p>
        </p:txBody>
      </p:sp>
      <p:sp>
        <p:nvSpPr>
          <p:cNvPr id="16" name="Shape 11"/>
          <p:cNvSpPr/>
          <p:nvPr/>
        </p:nvSpPr>
        <p:spPr>
          <a:xfrm>
            <a:off x="3520440" y="1920240"/>
            <a:ext cx="548640" cy="548640"/>
          </a:xfrm>
          <a:prstGeom prst="ellipse">
            <a:avLst/>
          </a:prstGeom>
          <a:solidFill>
            <a:srgbClr val="217B56"/>
          </a:solidFill>
          <a:ln w="12700">
            <a:solidFill>
              <a:srgbClr val="217B56"/>
            </a:solidFill>
            <a:prstDash val="solid"/>
          </a:ln>
        </p:spPr>
      </p:sp>
      <p:pic>
        <p:nvPicPr>
          <p:cNvPr id="17" name="Image 3" descr="preencoded.png"/>
          <p:cNvPicPr>
            <a:picLocks noChangeAspect="1"/>
          </p:cNvPicPr>
          <p:nvPr/>
        </p:nvPicPr>
        <p:blipFill>
          <a:blip r:embed="rId6"/>
          <a:stretch>
            <a:fillRect/>
          </a:stretch>
        </p:blipFill>
        <p:spPr>
          <a:xfrm>
            <a:off x="3657600" y="2057400"/>
            <a:ext cx="274320" cy="274320"/>
          </a:xfrm>
          <a:prstGeom prst="rect">
            <a:avLst/>
          </a:prstGeom>
        </p:spPr>
      </p:pic>
      <p:sp>
        <p:nvSpPr>
          <p:cNvPr id="18" name="Text 12"/>
          <p:cNvSpPr txBox="1"/>
          <p:nvPr/>
        </p:nvSpPr>
        <p:spPr>
          <a:xfrm>
            <a:off x="4206240" y="1901952"/>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Python</a:t>
            </a:r>
            <a:endParaRPr lang="en-US" sz="1500" dirty="0"/>
          </a:p>
        </p:txBody>
      </p:sp>
      <p:sp>
        <p:nvSpPr>
          <p:cNvPr id="19" name="Text 13"/>
          <p:cNvSpPr txBox="1"/>
          <p:nvPr/>
        </p:nvSpPr>
        <p:spPr>
          <a:xfrm>
            <a:off x="4206240" y="2194560"/>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The language behind the whole project</a:t>
            </a:r>
            <a:endParaRPr lang="en-US" sz="1100" dirty="0"/>
          </a:p>
        </p:txBody>
      </p:sp>
      <p:sp>
        <p:nvSpPr>
          <p:cNvPr id="20" name="Shape 14"/>
          <p:cNvSpPr/>
          <p:nvPr/>
        </p:nvSpPr>
        <p:spPr>
          <a:xfrm>
            <a:off x="3520440" y="2770632"/>
            <a:ext cx="548640" cy="548640"/>
          </a:xfrm>
          <a:prstGeom prst="ellipse">
            <a:avLst/>
          </a:prstGeom>
          <a:solidFill>
            <a:srgbClr val="217B56"/>
          </a:solidFill>
          <a:ln w="12700">
            <a:solidFill>
              <a:srgbClr val="217B56"/>
            </a:solidFill>
            <a:prstDash val="solid"/>
          </a:ln>
        </p:spPr>
      </p:sp>
      <p:pic>
        <p:nvPicPr>
          <p:cNvPr id="21" name="Image 4" descr="preencoded.png"/>
          <p:cNvPicPr>
            <a:picLocks noChangeAspect="1"/>
          </p:cNvPicPr>
          <p:nvPr/>
        </p:nvPicPr>
        <p:blipFill>
          <a:blip r:embed="rId7"/>
          <a:stretch>
            <a:fillRect/>
          </a:stretch>
        </p:blipFill>
        <p:spPr>
          <a:xfrm>
            <a:off x="3657600" y="2907792"/>
            <a:ext cx="274320" cy="274320"/>
          </a:xfrm>
          <a:prstGeom prst="rect">
            <a:avLst/>
          </a:prstGeom>
        </p:spPr>
      </p:pic>
      <p:sp>
        <p:nvSpPr>
          <p:cNvPr id="22" name="Text 15"/>
          <p:cNvSpPr txBox="1"/>
          <p:nvPr/>
        </p:nvSpPr>
        <p:spPr>
          <a:xfrm>
            <a:off x="4206240" y="2752344"/>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Streamlit</a:t>
            </a:r>
            <a:endParaRPr lang="en-US" sz="1500" dirty="0"/>
          </a:p>
        </p:txBody>
      </p:sp>
      <p:sp>
        <p:nvSpPr>
          <p:cNvPr id="23" name="Text 16"/>
          <p:cNvSpPr txBox="1"/>
          <p:nvPr/>
        </p:nvSpPr>
        <p:spPr>
          <a:xfrm>
            <a:off x="4206240" y="3044952"/>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The web app users search in</a:t>
            </a:r>
            <a:endParaRPr lang="en-US" sz="1100" dirty="0"/>
          </a:p>
        </p:txBody>
      </p:sp>
      <p:sp>
        <p:nvSpPr>
          <p:cNvPr id="24" name="Shape 17"/>
          <p:cNvSpPr/>
          <p:nvPr/>
        </p:nvSpPr>
        <p:spPr>
          <a:xfrm>
            <a:off x="3520440" y="3621024"/>
            <a:ext cx="548640" cy="548640"/>
          </a:xfrm>
          <a:prstGeom prst="ellipse">
            <a:avLst/>
          </a:prstGeom>
          <a:solidFill>
            <a:srgbClr val="217B56"/>
          </a:solidFill>
          <a:ln w="12700">
            <a:solidFill>
              <a:srgbClr val="217B56"/>
            </a:solidFill>
            <a:prstDash val="solid"/>
          </a:ln>
        </p:spPr>
      </p:sp>
      <p:pic>
        <p:nvPicPr>
          <p:cNvPr id="25" name="Image 5" descr="preencoded.png"/>
          <p:cNvPicPr>
            <a:picLocks noChangeAspect="1"/>
          </p:cNvPicPr>
          <p:nvPr/>
        </p:nvPicPr>
        <p:blipFill>
          <a:blip r:embed="rId8"/>
          <a:stretch>
            <a:fillRect/>
          </a:stretch>
        </p:blipFill>
        <p:spPr>
          <a:xfrm>
            <a:off x="3657600" y="3758184"/>
            <a:ext cx="274320" cy="274320"/>
          </a:xfrm>
          <a:prstGeom prst="rect">
            <a:avLst/>
          </a:prstGeom>
        </p:spPr>
      </p:pic>
      <p:sp>
        <p:nvSpPr>
          <p:cNvPr id="26" name="Text 18"/>
          <p:cNvSpPr txBox="1"/>
          <p:nvPr/>
        </p:nvSpPr>
        <p:spPr>
          <a:xfrm>
            <a:off x="4206240" y="3602736"/>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PostgreSQL</a:t>
            </a:r>
            <a:endParaRPr lang="en-US" sz="1500" dirty="0"/>
          </a:p>
        </p:txBody>
      </p:sp>
      <p:sp>
        <p:nvSpPr>
          <p:cNvPr id="27" name="Text 19"/>
          <p:cNvSpPr txBox="1"/>
          <p:nvPr/>
        </p:nvSpPr>
        <p:spPr>
          <a:xfrm>
            <a:off x="4206240" y="3895344"/>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Stores places and runs the filters</a:t>
            </a:r>
            <a:endParaRPr lang="en-US" sz="1100" dirty="0"/>
          </a:p>
        </p:txBody>
      </p:sp>
      <p:sp>
        <p:nvSpPr>
          <p:cNvPr id="28" name="Shape 20"/>
          <p:cNvSpPr/>
          <p:nvPr/>
        </p:nvSpPr>
        <p:spPr>
          <a:xfrm>
            <a:off x="6126480" y="1325880"/>
            <a:ext cx="2560320" cy="3200400"/>
          </a:xfrm>
          <a:prstGeom prst="roundRect">
            <a:avLst>
              <a:gd name="adj" fmla="val 535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sp>
      <p:sp>
        <p:nvSpPr>
          <p:cNvPr id="29" name="Text 21"/>
          <p:cNvSpPr txBox="1"/>
          <p:nvPr/>
        </p:nvSpPr>
        <p:spPr>
          <a:xfrm>
            <a:off x="6355080" y="1481328"/>
            <a:ext cx="2103120" cy="274320"/>
          </a:xfrm>
          <a:prstGeom prst="rect">
            <a:avLst/>
          </a:prstGeom>
          <a:noFill/>
          <a:ln/>
        </p:spPr>
        <p:txBody>
          <a:bodyPr wrap="square" lIns="0" tIns="0" rIns="0" bIns="0" rtlCol="0" anchor="ctr"/>
          <a:lstStyle/>
          <a:p>
            <a:pPr marL="0" indent="0">
              <a:buNone/>
            </a:pPr>
            <a:r>
              <a:rPr lang="en-US" sz="1100" b="1" kern="0" spc="300" dirty="0">
                <a:solidFill>
                  <a:srgbClr val="377C5B"/>
                </a:solidFill>
                <a:latin typeface="Calibri" pitchFamily="34" charset="0"/>
                <a:ea typeface="Calibri" pitchFamily="34" charset="-122"/>
                <a:cs typeface="Calibri" pitchFamily="34" charset="-120"/>
              </a:rPr>
              <a:t>COLLABORATE</a:t>
            </a:r>
            <a:endParaRPr lang="en-US" sz="1100" dirty="0"/>
          </a:p>
        </p:txBody>
      </p:sp>
      <p:sp>
        <p:nvSpPr>
          <p:cNvPr id="30" name="Shape 22"/>
          <p:cNvSpPr/>
          <p:nvPr/>
        </p:nvSpPr>
        <p:spPr>
          <a:xfrm>
            <a:off x="6355080" y="1920240"/>
            <a:ext cx="548640" cy="548640"/>
          </a:xfrm>
          <a:prstGeom prst="ellipse">
            <a:avLst/>
          </a:prstGeom>
          <a:solidFill>
            <a:srgbClr val="217B56"/>
          </a:solidFill>
          <a:ln w="12700">
            <a:solidFill>
              <a:srgbClr val="217B56"/>
            </a:solidFill>
            <a:prstDash val="solid"/>
          </a:ln>
        </p:spPr>
      </p:sp>
      <p:pic>
        <p:nvPicPr>
          <p:cNvPr id="31" name="Image 6" descr="preencoded.png"/>
          <p:cNvPicPr>
            <a:picLocks noChangeAspect="1"/>
          </p:cNvPicPr>
          <p:nvPr/>
        </p:nvPicPr>
        <p:blipFill>
          <a:blip r:embed="rId9"/>
          <a:stretch>
            <a:fillRect/>
          </a:stretch>
        </p:blipFill>
        <p:spPr>
          <a:xfrm>
            <a:off x="6492240" y="2057400"/>
            <a:ext cx="274320" cy="274320"/>
          </a:xfrm>
          <a:prstGeom prst="rect">
            <a:avLst/>
          </a:prstGeom>
        </p:spPr>
      </p:pic>
      <p:sp>
        <p:nvSpPr>
          <p:cNvPr id="32" name="Text 23"/>
          <p:cNvSpPr txBox="1"/>
          <p:nvPr/>
        </p:nvSpPr>
        <p:spPr>
          <a:xfrm>
            <a:off x="7040880" y="1901952"/>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Git</a:t>
            </a:r>
            <a:endParaRPr lang="en-US" sz="1500" dirty="0"/>
          </a:p>
        </p:txBody>
      </p:sp>
      <p:sp>
        <p:nvSpPr>
          <p:cNvPr id="33" name="Text 24"/>
          <p:cNvSpPr txBox="1"/>
          <p:nvPr/>
        </p:nvSpPr>
        <p:spPr>
          <a:xfrm>
            <a:off x="7040880" y="2194560"/>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Version control for every change</a:t>
            </a:r>
            <a:endParaRPr lang="en-US" sz="1100" dirty="0"/>
          </a:p>
        </p:txBody>
      </p:sp>
      <p:sp>
        <p:nvSpPr>
          <p:cNvPr id="34" name="Shape 25"/>
          <p:cNvSpPr/>
          <p:nvPr/>
        </p:nvSpPr>
        <p:spPr>
          <a:xfrm>
            <a:off x="6355080" y="2770632"/>
            <a:ext cx="548640" cy="548640"/>
          </a:xfrm>
          <a:prstGeom prst="ellipse">
            <a:avLst/>
          </a:prstGeom>
          <a:solidFill>
            <a:srgbClr val="217B56"/>
          </a:solidFill>
          <a:ln w="12700">
            <a:solidFill>
              <a:srgbClr val="217B56"/>
            </a:solidFill>
            <a:prstDash val="solid"/>
          </a:ln>
        </p:spPr>
      </p:sp>
      <p:pic>
        <p:nvPicPr>
          <p:cNvPr id="35" name="Image 7" descr="preencoded.png"/>
          <p:cNvPicPr>
            <a:picLocks noChangeAspect="1"/>
          </p:cNvPicPr>
          <p:nvPr/>
        </p:nvPicPr>
        <p:blipFill>
          <a:blip r:embed="rId10"/>
          <a:stretch>
            <a:fillRect/>
          </a:stretch>
        </p:blipFill>
        <p:spPr>
          <a:xfrm>
            <a:off x="6492240" y="2907792"/>
            <a:ext cx="274320" cy="274320"/>
          </a:xfrm>
          <a:prstGeom prst="rect">
            <a:avLst/>
          </a:prstGeom>
        </p:spPr>
      </p:pic>
      <p:sp>
        <p:nvSpPr>
          <p:cNvPr id="36" name="Text 26"/>
          <p:cNvSpPr txBox="1"/>
          <p:nvPr/>
        </p:nvSpPr>
        <p:spPr>
          <a:xfrm>
            <a:off x="7040880" y="2752344"/>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GitHub</a:t>
            </a:r>
            <a:endParaRPr lang="en-US" sz="1500" dirty="0"/>
          </a:p>
        </p:txBody>
      </p:sp>
      <p:sp>
        <p:nvSpPr>
          <p:cNvPr id="37" name="Text 27"/>
          <p:cNvSpPr txBox="1"/>
          <p:nvPr/>
        </p:nvSpPr>
        <p:spPr>
          <a:xfrm>
            <a:off x="7040880" y="3044952"/>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Shared repository for the team</a:t>
            </a:r>
            <a:endParaRPr lang="en-US" sz="110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Future development</a:t>
            </a:r>
            <a:endParaRPr lang="en-US" sz="3000" dirty="0"/>
          </a:p>
        </p:txBody>
      </p:sp>
      <p:sp>
        <p:nvSpPr>
          <p:cNvPr id="4" name="Text 1"/>
          <p:cNvSpPr txBox="1"/>
          <p:nvPr/>
        </p:nvSpPr>
        <p:spPr>
          <a:xfrm>
            <a:off x="457200" y="1005840"/>
            <a:ext cx="7315200" cy="320040"/>
          </a:xfrm>
          <a:prstGeom prst="rect">
            <a:avLst/>
          </a:prstGeom>
          <a:noFill/>
          <a:ln/>
        </p:spPr>
        <p:txBody>
          <a:bodyPr wrap="square" lIns="0" tIns="0" rIns="0" bIns="0" rtlCol="0" anchor="ctr"/>
          <a:lstStyle/>
          <a:p>
            <a:pPr marL="0" indent="0">
              <a:buNone/>
            </a:pPr>
            <a:r>
              <a:rPr lang="en-US" sz="1500" dirty="0">
                <a:solidFill>
                  <a:srgbClr val="46604F"/>
                </a:solidFill>
                <a:latin typeface="Calibri" pitchFamily="34" charset="0"/>
                <a:ea typeface="Calibri" pitchFamily="34" charset="-122"/>
                <a:cs typeface="Calibri" pitchFamily="34" charset="-120"/>
              </a:rPr>
              <a:t>What we can build next to make WAIN even better.</a:t>
            </a:r>
            <a:endParaRPr lang="en-US" sz="1500" dirty="0"/>
          </a:p>
        </p:txBody>
      </p:sp>
      <p:sp>
        <p:nvSpPr>
          <p:cNvPr id="5" name="Shape 2"/>
          <p:cNvSpPr/>
          <p:nvPr/>
        </p:nvSpPr>
        <p:spPr>
          <a:xfrm>
            <a:off x="822960" y="2697480"/>
            <a:ext cx="6400800" cy="0"/>
          </a:xfrm>
          <a:prstGeom prst="line">
            <a:avLst/>
          </a:prstGeom>
          <a:noFill/>
          <a:ln w="38100">
            <a:solidFill>
              <a:srgbClr val="89C089"/>
            </a:solidFill>
            <a:prstDash val="solid"/>
          </a:ln>
        </p:spPr>
      </p:sp>
      <p:sp>
        <p:nvSpPr>
          <p:cNvPr id="6" name="Shape 3"/>
          <p:cNvSpPr/>
          <p:nvPr/>
        </p:nvSpPr>
        <p:spPr>
          <a:xfrm>
            <a:off x="457200" y="2331720"/>
            <a:ext cx="731520" cy="731520"/>
          </a:xfrm>
          <a:prstGeom prst="ellipse">
            <a:avLst/>
          </a:prstGeom>
          <a:solidFill>
            <a:srgbClr val="217B56"/>
          </a:solidFill>
          <a:ln w="12700">
            <a:solidFill>
              <a:srgbClr val="217B56"/>
            </a:solidFill>
            <a:prstDash val="solid"/>
          </a:ln>
        </p:spPr>
      </p:sp>
      <p:pic>
        <p:nvPicPr>
          <p:cNvPr id="7" name="Image 1" descr="preencoded.png"/>
          <p:cNvPicPr>
            <a:picLocks noChangeAspect="1"/>
          </p:cNvPicPr>
          <p:nvPr/>
        </p:nvPicPr>
        <p:blipFill>
          <a:blip r:embed="rId5"/>
          <a:stretch>
            <a:fillRect/>
          </a:stretch>
        </p:blipFill>
        <p:spPr>
          <a:xfrm>
            <a:off x="640080" y="2514600"/>
            <a:ext cx="365760" cy="365760"/>
          </a:xfrm>
          <a:prstGeom prst="rect">
            <a:avLst/>
          </a:prstGeom>
        </p:spPr>
      </p:pic>
      <p:sp>
        <p:nvSpPr>
          <p:cNvPr id="8" name="Text 4"/>
          <p:cNvSpPr txBox="1"/>
          <p:nvPr/>
        </p:nvSpPr>
        <p:spPr>
          <a:xfrm>
            <a:off x="457200" y="3337560"/>
            <a:ext cx="1828800" cy="365760"/>
          </a:xfrm>
          <a:prstGeom prst="rect">
            <a:avLst/>
          </a:prstGeom>
          <a:noFill/>
          <a:ln/>
        </p:spPr>
        <p:txBody>
          <a:bodyPr wrap="square" lIns="0" tIns="0" rIns="0" bIns="0" rtlCol="0" anchor="ctr"/>
          <a:lstStyle/>
          <a:p>
            <a:pPr marL="0" indent="0">
              <a:buNone/>
            </a:pPr>
            <a:r>
              <a:rPr lang="en-US" sz="1600" b="1" dirty="0">
                <a:solidFill>
                  <a:srgbClr val="0D3D2C"/>
                </a:solidFill>
                <a:latin typeface="Cambria" pitchFamily="34" charset="0"/>
                <a:ea typeface="Cambria" pitchFamily="34" charset="-122"/>
                <a:cs typeface="Cambria" pitchFamily="34" charset="-120"/>
              </a:rPr>
              <a:t>More cities</a:t>
            </a:r>
            <a:endParaRPr lang="en-US" sz="1600" dirty="0"/>
          </a:p>
        </p:txBody>
      </p:sp>
      <p:sp>
        <p:nvSpPr>
          <p:cNvPr id="9" name="Text 5"/>
          <p:cNvSpPr txBox="1"/>
          <p:nvPr/>
        </p:nvSpPr>
        <p:spPr>
          <a:xfrm>
            <a:off x="457200" y="3749040"/>
            <a:ext cx="1828800" cy="822960"/>
          </a:xfrm>
          <a:prstGeom prst="rect">
            <a:avLst/>
          </a:prstGeom>
          <a:noFill/>
          <a:ln/>
        </p:spPr>
        <p:txBody>
          <a:bodyPr wrap="square" lIns="0" tIns="0" rIns="0" bIns="0" rtlCol="0" anchor="t"/>
          <a:lstStyle/>
          <a:p>
            <a:pPr marL="0" indent="0">
              <a:buNone/>
            </a:pPr>
            <a:r>
              <a:rPr lang="en-US" sz="1250" dirty="0">
                <a:solidFill>
                  <a:srgbClr val="46604F"/>
                </a:solidFill>
                <a:latin typeface="Calibri" pitchFamily="34" charset="0"/>
                <a:ea typeface="Calibri" pitchFamily="34" charset="-122"/>
                <a:cs typeface="Calibri" pitchFamily="34" charset="-120"/>
              </a:rPr>
              <a:t>Go beyond Riyadh with the same one-sentence search</a:t>
            </a:r>
            <a:endParaRPr lang="en-US" sz="1250" dirty="0"/>
          </a:p>
        </p:txBody>
      </p:sp>
      <p:sp>
        <p:nvSpPr>
          <p:cNvPr id="14" name="Shape 9"/>
          <p:cNvSpPr/>
          <p:nvPr/>
        </p:nvSpPr>
        <p:spPr>
          <a:xfrm>
            <a:off x="3657600" y="2331720"/>
            <a:ext cx="731520" cy="731520"/>
          </a:xfrm>
          <a:prstGeom prst="ellipse">
            <a:avLst/>
          </a:prstGeom>
          <a:solidFill>
            <a:srgbClr val="217B56"/>
          </a:solidFill>
          <a:ln w="12700">
            <a:solidFill>
              <a:srgbClr val="217B56"/>
            </a:solidFill>
            <a:prstDash val="solid"/>
          </a:ln>
        </p:spPr>
      </p:sp>
      <p:pic>
        <p:nvPicPr>
          <p:cNvPr id="15" name="Image 3" descr="preencoded.png"/>
          <p:cNvPicPr>
            <a:picLocks noChangeAspect="1"/>
          </p:cNvPicPr>
          <p:nvPr/>
        </p:nvPicPr>
        <p:blipFill>
          <a:blip r:embed="rId6"/>
          <a:stretch>
            <a:fillRect/>
          </a:stretch>
        </p:blipFill>
        <p:spPr>
          <a:xfrm>
            <a:off x="3840480" y="2514600"/>
            <a:ext cx="365760" cy="365760"/>
          </a:xfrm>
          <a:prstGeom prst="rect">
            <a:avLst/>
          </a:prstGeom>
        </p:spPr>
      </p:pic>
      <p:sp>
        <p:nvSpPr>
          <p:cNvPr id="16" name="Text 10"/>
          <p:cNvSpPr txBox="1"/>
          <p:nvPr/>
        </p:nvSpPr>
        <p:spPr>
          <a:xfrm>
            <a:off x="3657600" y="3337560"/>
            <a:ext cx="1828800" cy="365760"/>
          </a:xfrm>
          <a:prstGeom prst="rect">
            <a:avLst/>
          </a:prstGeom>
          <a:noFill/>
          <a:ln/>
        </p:spPr>
        <p:txBody>
          <a:bodyPr wrap="square" lIns="0" tIns="0" rIns="0" bIns="0" rtlCol="0" anchor="ctr"/>
          <a:lstStyle/>
          <a:p>
            <a:pPr marL="0" indent="0">
              <a:buNone/>
            </a:pPr>
            <a:r>
              <a:rPr lang="en-US" sz="1600" b="1" dirty="0">
                <a:solidFill>
                  <a:srgbClr val="0D3D2C"/>
                </a:solidFill>
                <a:latin typeface="Cambria" pitchFamily="34" charset="0"/>
                <a:ea typeface="Cambria" pitchFamily="34" charset="-122"/>
                <a:cs typeface="Cambria" pitchFamily="34" charset="-120"/>
              </a:rPr>
              <a:t>Arabic support</a:t>
            </a:r>
            <a:endParaRPr lang="en-US" sz="1600" dirty="0"/>
          </a:p>
        </p:txBody>
      </p:sp>
      <p:sp>
        <p:nvSpPr>
          <p:cNvPr id="17" name="Text 11"/>
          <p:cNvSpPr txBox="1"/>
          <p:nvPr/>
        </p:nvSpPr>
        <p:spPr>
          <a:xfrm>
            <a:off x="3657600" y="3749040"/>
            <a:ext cx="1828800" cy="822960"/>
          </a:xfrm>
          <a:prstGeom prst="rect">
            <a:avLst/>
          </a:prstGeom>
          <a:noFill/>
          <a:ln/>
        </p:spPr>
        <p:txBody>
          <a:bodyPr wrap="square" lIns="0" tIns="0" rIns="0" bIns="0" rtlCol="0" anchor="t"/>
          <a:lstStyle/>
          <a:p>
            <a:pPr marL="0" indent="0">
              <a:buNone/>
            </a:pPr>
            <a:r>
              <a:rPr lang="en-US" sz="1250" dirty="0">
                <a:solidFill>
                  <a:srgbClr val="46604F"/>
                </a:solidFill>
                <a:latin typeface="Calibri" pitchFamily="34" charset="0"/>
                <a:ea typeface="Calibri" pitchFamily="34" charset="-122"/>
                <a:cs typeface="Calibri" pitchFamily="34" charset="-120"/>
              </a:rPr>
              <a:t>Ask in Arabic or English and get answers in your language</a:t>
            </a:r>
            <a:endParaRPr lang="en-US" sz="1250" dirty="0"/>
          </a:p>
        </p:txBody>
      </p:sp>
      <p:sp>
        <p:nvSpPr>
          <p:cNvPr id="18" name="Shape 12"/>
          <p:cNvSpPr/>
          <p:nvPr/>
        </p:nvSpPr>
        <p:spPr>
          <a:xfrm>
            <a:off x="6858000" y="2331720"/>
            <a:ext cx="731520" cy="731520"/>
          </a:xfrm>
          <a:prstGeom prst="ellipse">
            <a:avLst/>
          </a:prstGeom>
          <a:solidFill>
            <a:srgbClr val="217B56"/>
          </a:solidFill>
          <a:ln w="12700">
            <a:solidFill>
              <a:srgbClr val="217B56"/>
            </a:solidFill>
            <a:prstDash val="solid"/>
          </a:ln>
        </p:spPr>
      </p:sp>
      <p:pic>
        <p:nvPicPr>
          <p:cNvPr id="19" name="Image 4" descr="preencoded.png"/>
          <p:cNvPicPr>
            <a:picLocks noChangeAspect="1"/>
          </p:cNvPicPr>
          <p:nvPr/>
        </p:nvPicPr>
        <p:blipFill>
          <a:blip r:embed="rId7"/>
          <a:stretch>
            <a:fillRect/>
          </a:stretch>
        </p:blipFill>
        <p:spPr>
          <a:xfrm>
            <a:off x="7040880" y="2514600"/>
            <a:ext cx="365760" cy="365760"/>
          </a:xfrm>
          <a:prstGeom prst="rect">
            <a:avLst/>
          </a:prstGeom>
        </p:spPr>
      </p:pic>
      <p:sp>
        <p:nvSpPr>
          <p:cNvPr id="20" name="Text 13"/>
          <p:cNvSpPr txBox="1"/>
          <p:nvPr/>
        </p:nvSpPr>
        <p:spPr>
          <a:xfrm>
            <a:off x="6858000" y="3337560"/>
            <a:ext cx="1828800" cy="365760"/>
          </a:xfrm>
          <a:prstGeom prst="rect">
            <a:avLst/>
          </a:prstGeom>
          <a:noFill/>
          <a:ln/>
        </p:spPr>
        <p:txBody>
          <a:bodyPr wrap="square" lIns="0" tIns="0" rIns="0" bIns="0" rtlCol="0" anchor="ctr"/>
          <a:lstStyle/>
          <a:p>
            <a:pPr marL="0" indent="0">
              <a:buNone/>
            </a:pPr>
            <a:r>
              <a:rPr lang="en-US" sz="1600" b="1" dirty="0">
                <a:solidFill>
                  <a:srgbClr val="0D3D2C"/>
                </a:solidFill>
                <a:latin typeface="Cambria" pitchFamily="34" charset="0"/>
                <a:ea typeface="Cambria" pitchFamily="34" charset="-122"/>
                <a:cs typeface="Cambria" pitchFamily="34" charset="-120"/>
              </a:rPr>
              <a:t>Personal profiles</a:t>
            </a:r>
            <a:endParaRPr lang="en-US" sz="1600" dirty="0"/>
          </a:p>
        </p:txBody>
      </p:sp>
      <p:sp>
        <p:nvSpPr>
          <p:cNvPr id="21" name="Text 14"/>
          <p:cNvSpPr txBox="1"/>
          <p:nvPr/>
        </p:nvSpPr>
        <p:spPr>
          <a:xfrm>
            <a:off x="6858000" y="3749040"/>
            <a:ext cx="1828800" cy="822960"/>
          </a:xfrm>
          <a:prstGeom prst="rect">
            <a:avLst/>
          </a:prstGeom>
          <a:noFill/>
          <a:ln/>
        </p:spPr>
        <p:txBody>
          <a:bodyPr wrap="square" lIns="0" tIns="0" rIns="0" bIns="0" rtlCol="0" anchor="t"/>
          <a:lstStyle/>
          <a:p>
            <a:pPr marL="0" indent="0">
              <a:buNone/>
            </a:pPr>
            <a:r>
              <a:rPr lang="en-US" sz="1250" dirty="0">
                <a:solidFill>
                  <a:srgbClr val="46604F"/>
                </a:solidFill>
                <a:latin typeface="Calibri" pitchFamily="34" charset="0"/>
                <a:ea typeface="Calibri" pitchFamily="34" charset="-122"/>
                <a:cs typeface="Calibri" pitchFamily="34" charset="-120"/>
              </a:rPr>
              <a:t>Remember usual budgets and tastes for sharper picks</a:t>
            </a:r>
            <a:endParaRPr lang="en-US" sz="1250" dirty="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F51F833A-9DCD-909F-6E48-AB060EDD30B6}"/>
              </a:ext>
            </a:extLst>
          </p:cNvPr>
          <p:cNvSpPr txBox="1"/>
          <p:nvPr/>
        </p:nvSpPr>
        <p:spPr>
          <a:xfrm>
            <a:off x="457200" y="822960"/>
            <a:ext cx="4572000" cy="274320"/>
          </a:xfrm>
          <a:prstGeom prst="rect">
            <a:avLst/>
          </a:prstGeom>
          <a:noFill/>
          <a:ln/>
        </p:spPr>
        <p:txBody>
          <a:bodyPr wrap="square" lIns="0" tIns="0" rIns="0" bIns="0" rtlCol="0" anchor="ctr"/>
          <a:lstStyle/>
          <a:p>
            <a:pPr marL="0" indent="0">
              <a:buNone/>
            </a:pPr>
            <a:r>
              <a:rPr lang="en-US" sz="1200" b="1" kern="0" spc="400" dirty="0">
                <a:solidFill>
                  <a:srgbClr val="89C089"/>
                </a:solidFill>
                <a:latin typeface="Calibri" pitchFamily="34" charset="0"/>
                <a:ea typeface="Calibri" pitchFamily="34" charset="-122"/>
                <a:cs typeface="Calibri" pitchFamily="34" charset="-120"/>
              </a:rPr>
              <a:t>LIVE DEMO</a:t>
            </a:r>
            <a:endParaRPr lang="en-US" sz="1200" dirty="0"/>
          </a:p>
        </p:txBody>
      </p:sp>
      <p:sp>
        <p:nvSpPr>
          <p:cNvPr id="7" name="Text 1">
            <a:extLst>
              <a:ext uri="{FF2B5EF4-FFF2-40B4-BE49-F238E27FC236}">
                <a16:creationId xmlns:a16="http://schemas.microsoft.com/office/drawing/2014/main" id="{A1D8A74E-9DB2-49FF-7279-0A5D6DFC1690}"/>
              </a:ext>
            </a:extLst>
          </p:cNvPr>
          <p:cNvSpPr txBox="1"/>
          <p:nvPr/>
        </p:nvSpPr>
        <p:spPr>
          <a:xfrm>
            <a:off x="457200" y="1188720"/>
            <a:ext cx="548640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Let’s try it.</a:t>
            </a:r>
            <a:endParaRPr lang="en-US" sz="4400" dirty="0"/>
          </a:p>
        </p:txBody>
      </p:sp>
      <p:sp>
        <p:nvSpPr>
          <p:cNvPr id="9" name="Shape 2">
            <a:extLst>
              <a:ext uri="{FF2B5EF4-FFF2-40B4-BE49-F238E27FC236}">
                <a16:creationId xmlns:a16="http://schemas.microsoft.com/office/drawing/2014/main" id="{C343305F-C1B6-08DB-98BF-30687E2C3DB0}"/>
              </a:ext>
            </a:extLst>
          </p:cNvPr>
          <p:cNvSpPr/>
          <p:nvPr/>
        </p:nvSpPr>
        <p:spPr>
          <a:xfrm>
            <a:off x="457200" y="2286000"/>
            <a:ext cx="6035040" cy="731520"/>
          </a:xfrm>
          <a:prstGeom prst="roundRect">
            <a:avLst>
              <a:gd name="adj" fmla="val 50000"/>
            </a:avLst>
          </a:prstGeom>
          <a:solidFill>
            <a:srgbClr val="FFFFFF"/>
          </a:solidFill>
          <a:ln w="19050">
            <a:solidFill>
              <a:srgbClr val="89C089"/>
            </a:solidFill>
            <a:prstDash val="solid"/>
          </a:ln>
        </p:spPr>
      </p:sp>
      <p:pic>
        <p:nvPicPr>
          <p:cNvPr id="11" name="Image 0" descr="preencoded.png">
            <a:extLst>
              <a:ext uri="{FF2B5EF4-FFF2-40B4-BE49-F238E27FC236}">
                <a16:creationId xmlns:a16="http://schemas.microsoft.com/office/drawing/2014/main" id="{F3B4D925-5633-4EF2-A742-41D914B9DDC7}"/>
              </a:ext>
            </a:extLst>
          </p:cNvPr>
          <p:cNvPicPr>
            <a:picLocks noChangeAspect="1"/>
          </p:cNvPicPr>
          <p:nvPr/>
        </p:nvPicPr>
        <p:blipFill>
          <a:blip r:embed="rId4"/>
          <a:stretch>
            <a:fillRect/>
          </a:stretch>
        </p:blipFill>
        <p:spPr>
          <a:xfrm>
            <a:off x="731520" y="2542032"/>
            <a:ext cx="228600" cy="228600"/>
          </a:xfrm>
          <a:prstGeom prst="rect">
            <a:avLst/>
          </a:prstGeom>
        </p:spPr>
      </p:pic>
      <p:sp>
        <p:nvSpPr>
          <p:cNvPr id="13" name="Text 3">
            <a:extLst>
              <a:ext uri="{FF2B5EF4-FFF2-40B4-BE49-F238E27FC236}">
                <a16:creationId xmlns:a16="http://schemas.microsoft.com/office/drawing/2014/main" id="{F5594171-1F97-E553-0C0B-CB0335DD42CA}"/>
              </a:ext>
            </a:extLst>
          </p:cNvPr>
          <p:cNvSpPr txBox="1"/>
          <p:nvPr/>
        </p:nvSpPr>
        <p:spPr>
          <a:xfrm>
            <a:off x="1143000" y="2286000"/>
            <a:ext cx="5212080" cy="731520"/>
          </a:xfrm>
          <a:prstGeom prst="rect">
            <a:avLst/>
          </a:prstGeom>
          <a:noFill/>
          <a:ln/>
        </p:spPr>
        <p:txBody>
          <a:bodyPr wrap="square" lIns="0" tIns="0" rIns="0" bIns="0" rtlCol="0" anchor="ctr"/>
          <a:lstStyle/>
          <a:p>
            <a:pPr marL="0" indent="0">
              <a:buNone/>
            </a:pPr>
            <a:r>
              <a:rPr lang="en-US" sz="1600" dirty="0">
                <a:solidFill>
                  <a:srgbClr val="0D3D2C"/>
                </a:solidFill>
                <a:latin typeface="Calibri" pitchFamily="34" charset="0"/>
                <a:ea typeface="Calibri" pitchFamily="34" charset="-122"/>
                <a:cs typeface="Calibri" pitchFamily="34" charset="-120"/>
              </a:rPr>
              <a:t>Cafes with budget 60 SAR</a:t>
            </a:r>
            <a:endParaRPr lang="en-US" sz="1600" dirty="0"/>
          </a:p>
        </p:txBody>
      </p:sp>
      <p:sp>
        <p:nvSpPr>
          <p:cNvPr id="15" name="Shape 4">
            <a:extLst>
              <a:ext uri="{FF2B5EF4-FFF2-40B4-BE49-F238E27FC236}">
                <a16:creationId xmlns:a16="http://schemas.microsoft.com/office/drawing/2014/main" id="{CA918DE7-282F-9366-7866-B68D5531A574}"/>
              </a:ext>
            </a:extLst>
          </p:cNvPr>
          <p:cNvSpPr/>
          <p:nvPr/>
        </p:nvSpPr>
        <p:spPr>
          <a:xfrm>
            <a:off x="457200" y="3520440"/>
            <a:ext cx="2011680" cy="640080"/>
          </a:xfrm>
          <a:prstGeom prst="roundRect">
            <a:avLst>
              <a:gd name="adj" fmla="val 50000"/>
            </a:avLst>
          </a:prstGeom>
          <a:solidFill>
            <a:srgbClr val="0E4B35"/>
          </a:solidFill>
          <a:ln w="12700">
            <a:solidFill>
              <a:srgbClr val="4E9666"/>
            </a:solidFill>
            <a:prstDash val="solid"/>
          </a:ln>
        </p:spPr>
      </p:sp>
      <p:sp>
        <p:nvSpPr>
          <p:cNvPr id="17" name="Shape 5">
            <a:extLst>
              <a:ext uri="{FF2B5EF4-FFF2-40B4-BE49-F238E27FC236}">
                <a16:creationId xmlns:a16="http://schemas.microsoft.com/office/drawing/2014/main" id="{908B45F7-9E65-BB0E-2125-B14E8E4E9A5D}"/>
              </a:ext>
            </a:extLst>
          </p:cNvPr>
          <p:cNvSpPr/>
          <p:nvPr/>
        </p:nvSpPr>
        <p:spPr>
          <a:xfrm>
            <a:off x="566928" y="3657600"/>
            <a:ext cx="365760" cy="365760"/>
          </a:xfrm>
          <a:prstGeom prst="ellipse">
            <a:avLst/>
          </a:prstGeom>
          <a:solidFill>
            <a:srgbClr val="89C089"/>
          </a:solidFill>
          <a:ln w="12700">
            <a:solidFill>
              <a:srgbClr val="89C089"/>
            </a:solidFill>
            <a:prstDash val="solid"/>
          </a:ln>
        </p:spPr>
      </p:sp>
      <p:sp>
        <p:nvSpPr>
          <p:cNvPr id="19" name="Text 6">
            <a:extLst>
              <a:ext uri="{FF2B5EF4-FFF2-40B4-BE49-F238E27FC236}">
                <a16:creationId xmlns:a16="http://schemas.microsoft.com/office/drawing/2014/main" id="{7947B74A-0119-8390-B625-3F0319F7C225}"/>
              </a:ext>
            </a:extLst>
          </p:cNvPr>
          <p:cNvSpPr txBox="1"/>
          <p:nvPr/>
        </p:nvSpPr>
        <p:spPr>
          <a:xfrm>
            <a:off x="566928" y="3657600"/>
            <a:ext cx="365760" cy="365760"/>
          </a:xfrm>
          <a:prstGeom prst="rect">
            <a:avLst/>
          </a:prstGeom>
          <a:noFill/>
          <a:ln/>
        </p:spPr>
        <p:txBody>
          <a:bodyPr wrap="square" lIns="0" tIns="0" rIns="0" bIns="0" rtlCol="0" anchor="ctr"/>
          <a:lstStyle/>
          <a:p>
            <a:pPr marL="0" indent="0" algn="ctr">
              <a:buNone/>
            </a:pPr>
            <a:r>
              <a:rPr lang="en-US" sz="1400" b="1" dirty="0">
                <a:solidFill>
                  <a:srgbClr val="0E4B35"/>
                </a:solidFill>
                <a:latin typeface="Cambria" pitchFamily="34" charset="0"/>
                <a:ea typeface="Cambria" pitchFamily="34" charset="-122"/>
                <a:cs typeface="Cambria" pitchFamily="34" charset="-120"/>
              </a:rPr>
              <a:t>1</a:t>
            </a:r>
            <a:endParaRPr lang="en-US" sz="1400" dirty="0"/>
          </a:p>
        </p:txBody>
      </p:sp>
      <p:sp>
        <p:nvSpPr>
          <p:cNvPr id="21" name="Text 7">
            <a:extLst>
              <a:ext uri="{FF2B5EF4-FFF2-40B4-BE49-F238E27FC236}">
                <a16:creationId xmlns:a16="http://schemas.microsoft.com/office/drawing/2014/main" id="{0B6A266C-714C-98AC-E267-0E9B2F382882}"/>
              </a:ext>
            </a:extLst>
          </p:cNvPr>
          <p:cNvSpPr txBox="1"/>
          <p:nvPr/>
        </p:nvSpPr>
        <p:spPr>
          <a:xfrm>
            <a:off x="1024128" y="3520440"/>
            <a:ext cx="1371600" cy="6400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Type one sentence</a:t>
            </a:r>
            <a:endParaRPr lang="en-US" sz="1200" dirty="0"/>
          </a:p>
        </p:txBody>
      </p:sp>
      <p:sp>
        <p:nvSpPr>
          <p:cNvPr id="23" name="Shape 8">
            <a:extLst>
              <a:ext uri="{FF2B5EF4-FFF2-40B4-BE49-F238E27FC236}">
                <a16:creationId xmlns:a16="http://schemas.microsoft.com/office/drawing/2014/main" id="{F23F1103-4680-C6F1-ABE8-EBCE3486E7FE}"/>
              </a:ext>
            </a:extLst>
          </p:cNvPr>
          <p:cNvSpPr/>
          <p:nvPr/>
        </p:nvSpPr>
        <p:spPr>
          <a:xfrm>
            <a:off x="2651760" y="3520440"/>
            <a:ext cx="2011680" cy="640080"/>
          </a:xfrm>
          <a:prstGeom prst="roundRect">
            <a:avLst>
              <a:gd name="adj" fmla="val 50000"/>
            </a:avLst>
          </a:prstGeom>
          <a:solidFill>
            <a:srgbClr val="0E4B35"/>
          </a:solidFill>
          <a:ln w="12700">
            <a:solidFill>
              <a:srgbClr val="4E9666"/>
            </a:solidFill>
            <a:prstDash val="solid"/>
          </a:ln>
        </p:spPr>
      </p:sp>
      <p:sp>
        <p:nvSpPr>
          <p:cNvPr id="25" name="Shape 9">
            <a:extLst>
              <a:ext uri="{FF2B5EF4-FFF2-40B4-BE49-F238E27FC236}">
                <a16:creationId xmlns:a16="http://schemas.microsoft.com/office/drawing/2014/main" id="{38E82331-9212-2089-80AB-A5A805E5CDA3}"/>
              </a:ext>
            </a:extLst>
          </p:cNvPr>
          <p:cNvSpPr/>
          <p:nvPr/>
        </p:nvSpPr>
        <p:spPr>
          <a:xfrm>
            <a:off x="2761488" y="3657600"/>
            <a:ext cx="365760" cy="365760"/>
          </a:xfrm>
          <a:prstGeom prst="ellipse">
            <a:avLst/>
          </a:prstGeom>
          <a:solidFill>
            <a:srgbClr val="89C089"/>
          </a:solidFill>
          <a:ln w="12700">
            <a:solidFill>
              <a:srgbClr val="89C089"/>
            </a:solidFill>
            <a:prstDash val="solid"/>
          </a:ln>
        </p:spPr>
      </p:sp>
      <p:sp>
        <p:nvSpPr>
          <p:cNvPr id="27" name="Text 10">
            <a:extLst>
              <a:ext uri="{FF2B5EF4-FFF2-40B4-BE49-F238E27FC236}">
                <a16:creationId xmlns:a16="http://schemas.microsoft.com/office/drawing/2014/main" id="{CD40E8D9-AF8F-59D1-4715-747995D65E62}"/>
              </a:ext>
            </a:extLst>
          </p:cNvPr>
          <p:cNvSpPr txBox="1"/>
          <p:nvPr/>
        </p:nvSpPr>
        <p:spPr>
          <a:xfrm>
            <a:off x="2761488" y="3657600"/>
            <a:ext cx="365760" cy="365760"/>
          </a:xfrm>
          <a:prstGeom prst="rect">
            <a:avLst/>
          </a:prstGeom>
          <a:noFill/>
          <a:ln/>
        </p:spPr>
        <p:txBody>
          <a:bodyPr wrap="square" lIns="0" tIns="0" rIns="0" bIns="0" rtlCol="0" anchor="ctr"/>
          <a:lstStyle/>
          <a:p>
            <a:pPr marL="0" indent="0" algn="ctr">
              <a:buNone/>
            </a:pPr>
            <a:r>
              <a:rPr lang="en-US" sz="1400" b="1" dirty="0">
                <a:solidFill>
                  <a:srgbClr val="0E4B35"/>
                </a:solidFill>
                <a:latin typeface="Cambria" pitchFamily="34" charset="0"/>
                <a:ea typeface="Cambria" pitchFamily="34" charset="-122"/>
                <a:cs typeface="Cambria" pitchFamily="34" charset="-120"/>
              </a:rPr>
              <a:t>2</a:t>
            </a:r>
            <a:endParaRPr lang="en-US" sz="1400" dirty="0"/>
          </a:p>
        </p:txBody>
      </p:sp>
      <p:sp>
        <p:nvSpPr>
          <p:cNvPr id="29" name="Text 11">
            <a:extLst>
              <a:ext uri="{FF2B5EF4-FFF2-40B4-BE49-F238E27FC236}">
                <a16:creationId xmlns:a16="http://schemas.microsoft.com/office/drawing/2014/main" id="{0E7CB40E-94A3-08BF-6503-5D4E452EC0FD}"/>
              </a:ext>
            </a:extLst>
          </p:cNvPr>
          <p:cNvSpPr txBox="1"/>
          <p:nvPr/>
        </p:nvSpPr>
        <p:spPr>
          <a:xfrm>
            <a:off x="3218688" y="3520440"/>
            <a:ext cx="1371600" cy="6400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See the places</a:t>
            </a:r>
            <a:endParaRPr lang="en-US" sz="1200" dirty="0"/>
          </a:p>
        </p:txBody>
      </p:sp>
      <p:sp>
        <p:nvSpPr>
          <p:cNvPr id="31" name="Shape 12">
            <a:extLst>
              <a:ext uri="{FF2B5EF4-FFF2-40B4-BE49-F238E27FC236}">
                <a16:creationId xmlns:a16="http://schemas.microsoft.com/office/drawing/2014/main" id="{1FEE573C-FDF7-DD55-F6E0-00AE5940D20A}"/>
              </a:ext>
            </a:extLst>
          </p:cNvPr>
          <p:cNvSpPr/>
          <p:nvPr/>
        </p:nvSpPr>
        <p:spPr>
          <a:xfrm>
            <a:off x="4846320" y="3520440"/>
            <a:ext cx="2011680" cy="640080"/>
          </a:xfrm>
          <a:prstGeom prst="roundRect">
            <a:avLst>
              <a:gd name="adj" fmla="val 50000"/>
            </a:avLst>
          </a:prstGeom>
          <a:solidFill>
            <a:srgbClr val="0E4B35"/>
          </a:solidFill>
          <a:ln w="12700">
            <a:solidFill>
              <a:srgbClr val="4E9666"/>
            </a:solidFill>
            <a:prstDash val="solid"/>
          </a:ln>
        </p:spPr>
      </p:sp>
      <p:sp>
        <p:nvSpPr>
          <p:cNvPr id="33" name="Shape 13">
            <a:extLst>
              <a:ext uri="{FF2B5EF4-FFF2-40B4-BE49-F238E27FC236}">
                <a16:creationId xmlns:a16="http://schemas.microsoft.com/office/drawing/2014/main" id="{B183D046-4DBD-D76E-359A-34C77F90F575}"/>
              </a:ext>
            </a:extLst>
          </p:cNvPr>
          <p:cNvSpPr/>
          <p:nvPr/>
        </p:nvSpPr>
        <p:spPr>
          <a:xfrm>
            <a:off x="4956048" y="3657600"/>
            <a:ext cx="365760" cy="365760"/>
          </a:xfrm>
          <a:prstGeom prst="ellipse">
            <a:avLst/>
          </a:prstGeom>
          <a:solidFill>
            <a:srgbClr val="89C089"/>
          </a:solidFill>
          <a:ln w="12700">
            <a:solidFill>
              <a:srgbClr val="89C089"/>
            </a:solidFill>
            <a:prstDash val="solid"/>
          </a:ln>
        </p:spPr>
      </p:sp>
      <p:sp>
        <p:nvSpPr>
          <p:cNvPr id="35" name="Text 14">
            <a:extLst>
              <a:ext uri="{FF2B5EF4-FFF2-40B4-BE49-F238E27FC236}">
                <a16:creationId xmlns:a16="http://schemas.microsoft.com/office/drawing/2014/main" id="{A6E0F2FA-3019-0397-8D67-9F03114B41B4}"/>
              </a:ext>
            </a:extLst>
          </p:cNvPr>
          <p:cNvSpPr txBox="1"/>
          <p:nvPr/>
        </p:nvSpPr>
        <p:spPr>
          <a:xfrm>
            <a:off x="4956048" y="3657600"/>
            <a:ext cx="365760" cy="365760"/>
          </a:xfrm>
          <a:prstGeom prst="rect">
            <a:avLst/>
          </a:prstGeom>
          <a:noFill/>
          <a:ln/>
        </p:spPr>
        <p:txBody>
          <a:bodyPr wrap="square" lIns="0" tIns="0" rIns="0" bIns="0" rtlCol="0" anchor="ctr"/>
          <a:lstStyle/>
          <a:p>
            <a:pPr marL="0" indent="0" algn="ctr">
              <a:buNone/>
            </a:pPr>
            <a:r>
              <a:rPr lang="en-US" sz="1400" b="1" dirty="0">
                <a:solidFill>
                  <a:srgbClr val="0E4B35"/>
                </a:solidFill>
                <a:latin typeface="Cambria" pitchFamily="34" charset="0"/>
                <a:ea typeface="Cambria" pitchFamily="34" charset="-122"/>
                <a:cs typeface="Cambria" pitchFamily="34" charset="-120"/>
              </a:rPr>
              <a:t>3</a:t>
            </a:r>
            <a:endParaRPr lang="en-US" sz="1400" dirty="0"/>
          </a:p>
        </p:txBody>
      </p:sp>
      <p:sp>
        <p:nvSpPr>
          <p:cNvPr id="37" name="Text 15">
            <a:extLst>
              <a:ext uri="{FF2B5EF4-FFF2-40B4-BE49-F238E27FC236}">
                <a16:creationId xmlns:a16="http://schemas.microsoft.com/office/drawing/2014/main" id="{AE575A44-199A-B759-E463-CFA28B342738}"/>
              </a:ext>
            </a:extLst>
          </p:cNvPr>
          <p:cNvSpPr txBox="1"/>
          <p:nvPr/>
        </p:nvSpPr>
        <p:spPr>
          <a:xfrm>
            <a:off x="5413248" y="3520440"/>
            <a:ext cx="1371600" cy="6400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cs typeface="Calibri" pitchFamily="34" charset="-120"/>
              </a:rPr>
              <a:t>Choose your match </a:t>
            </a:r>
            <a:endParaRPr lang="en-US" sz="1200" dirty="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99735" y="942154"/>
            <a:ext cx="2608936" cy="822960"/>
          </a:xfrm>
          <a:prstGeom prst="rect">
            <a:avLst/>
          </a:prstGeom>
          <a:noFill/>
          <a:ln/>
        </p:spPr>
        <p:txBody>
          <a:bodyPr wrap="square" lIns="0" tIns="0" rIns="0" bIns="0" rtlCol="0" anchor="ctr"/>
          <a:lstStyle/>
          <a:p>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399735" y="1765114"/>
            <a:ext cx="2107491" cy="548640"/>
          </a:xfrm>
          <a:prstGeom prst="rect">
            <a:avLst/>
          </a:prstGeom>
          <a:noFill/>
          <a:ln/>
        </p:spPr>
        <p:txBody>
          <a:bodyPr wrap="square" lIns="0" tIns="0" rIns="0" bIns="0" rtlCol="0" anchor="ctr"/>
          <a:lstStyle/>
          <a:p>
            <a:pPr marL="0" indent="0">
              <a:buNone/>
            </a:pPr>
            <a:r>
              <a:rPr lang="en-US" sz="2400" i="1" dirty="0">
                <a:solidFill>
                  <a:srgbClr val="89C089"/>
                </a:solidFill>
                <a:latin typeface="Cambria" pitchFamily="34" charset="0"/>
                <a:ea typeface="Cambria" pitchFamily="34" charset="-122"/>
                <a:cs typeface="Cambria" pitchFamily="34" charset="-120"/>
              </a:rPr>
              <a:t>Any Questions?</a:t>
            </a:r>
            <a:endParaRPr lang="en-US" sz="2400" dirty="0"/>
          </a:p>
        </p:txBody>
      </p:sp>
      <p:pic>
        <p:nvPicPr>
          <p:cNvPr id="6" name="Image 0" descr="assets/logo_full_white.png"/>
          <p:cNvPicPr>
            <a:picLocks noChangeAspect="1"/>
          </p:cNvPicPr>
          <p:nvPr/>
        </p:nvPicPr>
        <p:blipFill>
          <a:blip r:embed="rId4"/>
          <a:stretch>
            <a:fillRect/>
          </a:stretch>
        </p:blipFill>
        <p:spPr>
          <a:xfrm>
            <a:off x="178631" y="3972965"/>
            <a:ext cx="986491" cy="1079974"/>
          </a:xfrm>
          <a:prstGeom prst="rect">
            <a:avLst/>
          </a:prstGeom>
        </p:spPr>
      </p:pic>
      <p:pic>
        <p:nvPicPr>
          <p:cNvPr id="10" name="صورة 9">
            <a:extLst>
              <a:ext uri="{FF2B5EF4-FFF2-40B4-BE49-F238E27FC236}">
                <a16:creationId xmlns:a16="http://schemas.microsoft.com/office/drawing/2014/main" id="{4BCF2564-8354-A966-6A7A-079A1ACBDE92}"/>
              </a:ext>
            </a:extLst>
          </p:cNvPr>
          <p:cNvPicPr>
            <a:picLocks noChangeAspect="1"/>
          </p:cNvPicPr>
          <p:nvPr/>
        </p:nvPicPr>
        <p:blipFill>
          <a:blip r:embed="rId5"/>
          <a:stretch>
            <a:fillRect/>
          </a:stretch>
        </p:blipFill>
        <p:spPr>
          <a:xfrm>
            <a:off x="-31422" y="-393280"/>
            <a:ext cx="1340651" cy="1405922"/>
          </a:xfrm>
          <a:prstGeom prst="rect">
            <a:avLst/>
          </a:prstGeom>
        </p:spPr>
      </p:pic>
      <p:sp>
        <p:nvSpPr>
          <p:cNvPr id="12" name="مربع نص 11">
            <a:extLst>
              <a:ext uri="{FF2B5EF4-FFF2-40B4-BE49-F238E27FC236}">
                <a16:creationId xmlns:a16="http://schemas.microsoft.com/office/drawing/2014/main" id="{A5CD1A64-D58B-AC7C-932A-52341C2497E2}"/>
              </a:ext>
            </a:extLst>
          </p:cNvPr>
          <p:cNvSpPr txBox="1"/>
          <p:nvPr/>
        </p:nvSpPr>
        <p:spPr>
          <a:xfrm>
            <a:off x="5725611" y="1012642"/>
            <a:ext cx="2918022" cy="523220"/>
          </a:xfrm>
          <a:prstGeom prst="rect">
            <a:avLst/>
          </a:prstGeom>
          <a:noFill/>
        </p:spPr>
        <p:txBody>
          <a:bodyPr wrap="square">
            <a:spAutoFit/>
          </a:bodyPr>
          <a:lstStyle/>
          <a:p>
            <a:pPr algn="ctr"/>
            <a:r>
              <a:rPr lang="en-US" sz="2800" b="1" dirty="0">
                <a:solidFill>
                  <a:srgbClr val="FFFFFF"/>
                </a:solidFill>
                <a:latin typeface="Cambria" pitchFamily="34" charset="0"/>
                <a:ea typeface="Cambria" pitchFamily="34" charset="-122"/>
              </a:rPr>
              <a:t>Meet The Team</a:t>
            </a:r>
            <a:endParaRPr lang="en-US" sz="2800" dirty="0"/>
          </a:p>
        </p:txBody>
      </p:sp>
      <p:pic>
        <p:nvPicPr>
          <p:cNvPr id="4" name="صورة 3">
            <a:extLst>
              <a:ext uri="{FF2B5EF4-FFF2-40B4-BE49-F238E27FC236}">
                <a16:creationId xmlns:a16="http://schemas.microsoft.com/office/drawing/2014/main" id="{52E5B7B7-017D-DBC1-F0FB-A0A54768B952}"/>
              </a:ext>
            </a:extLst>
          </p:cNvPr>
          <p:cNvPicPr>
            <a:picLocks noChangeAspect="1"/>
          </p:cNvPicPr>
          <p:nvPr/>
        </p:nvPicPr>
        <p:blipFill>
          <a:blip r:embed="rId6"/>
          <a:stretch>
            <a:fillRect/>
          </a:stretch>
        </p:blipFill>
        <p:spPr>
          <a:xfrm>
            <a:off x="5826243" y="1601537"/>
            <a:ext cx="2918022" cy="2921158"/>
          </a:xfrm>
          <a:prstGeom prst="rect">
            <a:avLst/>
          </a:prstGeom>
        </p:spPr>
      </p:pic>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672</Words>
  <Application>Microsoft Office PowerPoint</Application>
  <PresentationFormat>عرض على الشاشة (16:9)</PresentationFormat>
  <Paragraphs>100</Paragraphs>
  <Slides>8</Slides>
  <Notes>8</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8</vt:i4>
      </vt:variant>
    </vt:vector>
  </HeadingPairs>
  <TitlesOfParts>
    <vt:vector size="12" baseType="lpstr">
      <vt:lpstr>Arial</vt:lpstr>
      <vt:lpstr>Calibri</vt:lpstr>
      <vt:lpstr>Cambria</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WAIN — Final Project</dc:title>
  <dc:subject>PptxGenJS Presentation</dc:subject>
  <dc:creator>Reema, Fatima &amp; Alnoud</dc:creator>
  <cp:lastModifiedBy>Alanoud Alotaibi</cp:lastModifiedBy>
  <cp:revision>8</cp:revision>
  <dcterms:created xsi:type="dcterms:W3CDTF">2026-09-22T06:30:35Z</dcterms:created>
  <dcterms:modified xsi:type="dcterms:W3CDTF">2026-09-27T18:09:05Z</dcterms:modified>
</cp:coreProperties>
</file>
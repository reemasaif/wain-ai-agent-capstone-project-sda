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2" r:id="rId8"/>
    <p:sldId id="261" r:id="rId9"/>
    <p:sldId id="263" r:id="rId10"/>
  </p:sldIdLst>
  <p:sldSz cx="18288000" cy="10287000"/>
  <p:notesSz cx="6858000" cy="9144000"/>
  <p:embeddedFontLst>
    <p:embeddedFont>
      <p:font typeface="DG Jory Bold" panose="020B0604020202020204" charset="-78"/>
      <p:regular r:id="rId11"/>
    </p:embeddedFont>
    <p:embeddedFont>
      <p:font typeface="Handy Casual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7" d="100"/>
          <a:sy n="37" d="100"/>
        </p:scale>
        <p:origin x="1060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2026-09-25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2026-09-25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2026-09-25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2026-09-25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2026-09-25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2026-09-25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2026-09-25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2026-09-25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2026-09-25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2026-09-25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2026-09-25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2026-09-25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D9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-5400000">
            <a:off x="5113514" y="-1933046"/>
            <a:ext cx="8426372" cy="14935199"/>
          </a:xfrm>
          <a:custGeom>
            <a:avLst/>
            <a:gdLst/>
            <a:ahLst/>
            <a:cxnLst/>
            <a:rect l="l" t="t" r="r" b="b"/>
            <a:pathLst>
              <a:path w="8426372" h="9881673">
                <a:moveTo>
                  <a:pt x="0" y="0"/>
                </a:moveTo>
                <a:lnTo>
                  <a:pt x="8426372" y="0"/>
                </a:lnTo>
                <a:lnTo>
                  <a:pt x="8426372" y="9881673"/>
                </a:lnTo>
                <a:lnTo>
                  <a:pt x="0" y="98816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36448" y="-13820"/>
            <a:ext cx="2793529" cy="2968297"/>
          </a:xfrm>
          <a:custGeom>
            <a:avLst/>
            <a:gdLst/>
            <a:ahLst/>
            <a:cxnLst/>
            <a:rect l="l" t="t" r="r" b="b"/>
            <a:pathLst>
              <a:path w="3850630" h="4227239">
                <a:moveTo>
                  <a:pt x="0" y="0"/>
                </a:moveTo>
                <a:lnTo>
                  <a:pt x="3850630" y="0"/>
                </a:lnTo>
                <a:lnTo>
                  <a:pt x="3850630" y="4227239"/>
                </a:lnTo>
                <a:lnTo>
                  <a:pt x="0" y="42272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5605266" y="7797170"/>
            <a:ext cx="3484886" cy="3729941"/>
          </a:xfrm>
          <a:custGeom>
            <a:avLst/>
            <a:gdLst/>
            <a:ahLst/>
            <a:cxnLst/>
            <a:rect l="l" t="t" r="r" b="b"/>
            <a:pathLst>
              <a:path w="3823023" h="4114800">
                <a:moveTo>
                  <a:pt x="0" y="0"/>
                </a:moveTo>
                <a:lnTo>
                  <a:pt x="3823023" y="0"/>
                </a:lnTo>
                <a:lnTo>
                  <a:pt x="38230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1660394">
            <a:off x="15333202" y="6746174"/>
            <a:ext cx="2381168" cy="2962992"/>
          </a:xfrm>
          <a:custGeom>
            <a:avLst/>
            <a:gdLst/>
            <a:ahLst/>
            <a:cxnLst/>
            <a:rect l="l" t="t" r="r" b="b"/>
            <a:pathLst>
              <a:path w="2381168" h="2962992">
                <a:moveTo>
                  <a:pt x="0" y="0"/>
                </a:moveTo>
                <a:lnTo>
                  <a:pt x="2381169" y="0"/>
                </a:lnTo>
                <a:lnTo>
                  <a:pt x="2381169" y="2962993"/>
                </a:lnTo>
                <a:lnTo>
                  <a:pt x="0" y="29629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Freeform 7"/>
          <p:cNvSpPr/>
          <p:nvPr/>
        </p:nvSpPr>
        <p:spPr>
          <a:xfrm rot="-1212379">
            <a:off x="1107402" y="7479603"/>
            <a:ext cx="2194803" cy="2146917"/>
          </a:xfrm>
          <a:custGeom>
            <a:avLst/>
            <a:gdLst/>
            <a:ahLst/>
            <a:cxnLst/>
            <a:rect l="l" t="t" r="r" b="b"/>
            <a:pathLst>
              <a:path w="2194803" h="2146917">
                <a:moveTo>
                  <a:pt x="0" y="0"/>
                </a:moveTo>
                <a:lnTo>
                  <a:pt x="2194803" y="0"/>
                </a:lnTo>
                <a:lnTo>
                  <a:pt x="2194803" y="2146916"/>
                </a:lnTo>
                <a:lnTo>
                  <a:pt x="0" y="21469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1004831" y="434941"/>
            <a:ext cx="2375917" cy="2082168"/>
          </a:xfrm>
          <a:custGeom>
            <a:avLst/>
            <a:gdLst/>
            <a:ahLst/>
            <a:cxnLst/>
            <a:rect l="l" t="t" r="r" b="b"/>
            <a:pathLst>
              <a:path w="2375917" h="2082168">
                <a:moveTo>
                  <a:pt x="0" y="0"/>
                </a:moveTo>
                <a:lnTo>
                  <a:pt x="2375917" y="0"/>
                </a:lnTo>
                <a:lnTo>
                  <a:pt x="2375917" y="2082168"/>
                </a:lnTo>
                <a:lnTo>
                  <a:pt x="0" y="20821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3275224" y="5454476"/>
            <a:ext cx="11737552" cy="17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930" b="1" dirty="0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AI-Powered Personalized  Place Recommendation Agent</a:t>
            </a:r>
          </a:p>
          <a:p>
            <a:pPr algn="ctr">
              <a:lnSpc>
                <a:spcPct val="150000"/>
              </a:lnSpc>
            </a:pPr>
            <a:r>
              <a:rPr lang="en-US" sz="3930" b="1" dirty="0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Plan. Navigate. Explore.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05266" y="2102086"/>
            <a:ext cx="7233510" cy="2461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29"/>
              </a:lnSpc>
            </a:pPr>
            <a:r>
              <a:rPr lang="en-US" sz="13100" dirty="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WAIN?</a:t>
            </a:r>
          </a:p>
        </p:txBody>
      </p:sp>
      <p:sp>
        <p:nvSpPr>
          <p:cNvPr id="2" name="Freeform 2"/>
          <p:cNvSpPr/>
          <p:nvPr/>
        </p:nvSpPr>
        <p:spPr>
          <a:xfrm rot="612752">
            <a:off x="15863274" y="702089"/>
            <a:ext cx="2102352" cy="2285165"/>
          </a:xfrm>
          <a:custGeom>
            <a:avLst/>
            <a:gdLst/>
            <a:ahLst/>
            <a:cxnLst/>
            <a:rect l="l" t="t" r="r" b="b"/>
            <a:pathLst>
              <a:path w="2102352" h="2285165">
                <a:moveTo>
                  <a:pt x="0" y="0"/>
                </a:moveTo>
                <a:lnTo>
                  <a:pt x="2102351" y="0"/>
                </a:lnTo>
                <a:lnTo>
                  <a:pt x="2102351" y="2285165"/>
                </a:lnTo>
                <a:lnTo>
                  <a:pt x="0" y="22851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D9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1">
            <a:off x="4974778" y="-3087592"/>
            <a:ext cx="8755444" cy="17226678"/>
          </a:xfrm>
          <a:custGeom>
            <a:avLst/>
            <a:gdLst/>
            <a:ahLst/>
            <a:cxnLst/>
            <a:rect l="l" t="t" r="r" b="b"/>
            <a:pathLst>
              <a:path w="9433685" h="11062956">
                <a:moveTo>
                  <a:pt x="9433684" y="0"/>
                </a:moveTo>
                <a:lnTo>
                  <a:pt x="0" y="0"/>
                </a:lnTo>
                <a:lnTo>
                  <a:pt x="0" y="11062956"/>
                </a:lnTo>
                <a:lnTo>
                  <a:pt x="9433684" y="11062956"/>
                </a:lnTo>
                <a:lnTo>
                  <a:pt x="943368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99321" y="7124700"/>
            <a:ext cx="3097839" cy="2911710"/>
          </a:xfrm>
          <a:custGeom>
            <a:avLst/>
            <a:gdLst/>
            <a:ahLst/>
            <a:cxnLst/>
            <a:rect l="l" t="t" r="r" b="b"/>
            <a:pathLst>
              <a:path w="3957689" h="4114800">
                <a:moveTo>
                  <a:pt x="0" y="0"/>
                </a:moveTo>
                <a:lnTo>
                  <a:pt x="3957690" y="0"/>
                </a:lnTo>
                <a:lnTo>
                  <a:pt x="39576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045775" y="8147464"/>
            <a:ext cx="1942904" cy="2911710"/>
          </a:xfrm>
          <a:custGeom>
            <a:avLst/>
            <a:gdLst/>
            <a:ahLst/>
            <a:cxnLst/>
            <a:rect l="l" t="t" r="r" b="b"/>
            <a:pathLst>
              <a:path w="1942904" h="2911710">
                <a:moveTo>
                  <a:pt x="0" y="0"/>
                </a:moveTo>
                <a:lnTo>
                  <a:pt x="1942905" y="0"/>
                </a:lnTo>
                <a:lnTo>
                  <a:pt x="1942905" y="2911710"/>
                </a:lnTo>
                <a:lnTo>
                  <a:pt x="0" y="29117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874373" y="5443"/>
            <a:ext cx="2102352" cy="2285165"/>
          </a:xfrm>
          <a:custGeom>
            <a:avLst/>
            <a:gdLst/>
            <a:ahLst/>
            <a:cxnLst/>
            <a:rect l="l" t="t" r="r" b="b"/>
            <a:pathLst>
              <a:path w="2102352" h="2285165">
                <a:moveTo>
                  <a:pt x="0" y="0"/>
                </a:moveTo>
                <a:lnTo>
                  <a:pt x="2102351" y="0"/>
                </a:lnTo>
                <a:lnTo>
                  <a:pt x="2102351" y="2285165"/>
                </a:lnTo>
                <a:lnTo>
                  <a:pt x="0" y="22851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4572000" y="2918776"/>
            <a:ext cx="7171949" cy="3893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4400" b="1" dirty="0">
                <a:latin typeface="DG Jory Bold"/>
                <a:ea typeface="DG Jory Bold"/>
                <a:cs typeface="DG Jory Bold"/>
                <a:sym typeface="DG Jory Bold"/>
              </a:rPr>
              <a:t>1- Reema </a:t>
            </a:r>
            <a:r>
              <a:rPr lang="en-US" sz="4400" b="1" dirty="0" err="1">
                <a:latin typeface="DG Jory Bold"/>
                <a:ea typeface="DG Jory Bold"/>
                <a:cs typeface="DG Jory Bold"/>
                <a:sym typeface="DG Jory Bold"/>
              </a:rPr>
              <a:t>Almutawa</a:t>
            </a:r>
            <a:endParaRPr lang="en-US" sz="4400" b="1" dirty="0">
              <a:latin typeface="DG Jory Bold"/>
              <a:ea typeface="DG Jory Bold"/>
              <a:cs typeface="DG Jory Bold"/>
              <a:sym typeface="DG Jory Bold"/>
            </a:endParaRPr>
          </a:p>
          <a:p>
            <a:pPr>
              <a:lnSpc>
                <a:spcPct val="200000"/>
              </a:lnSpc>
            </a:pPr>
            <a:r>
              <a:rPr lang="en-US" sz="4400" b="1" dirty="0">
                <a:latin typeface="DG Jory Bold"/>
                <a:ea typeface="DG Jory Bold"/>
                <a:cs typeface="DG Jory Bold"/>
                <a:sym typeface="DG Jory Bold"/>
              </a:rPr>
              <a:t>2- Alanoud Alotaibi</a:t>
            </a:r>
          </a:p>
          <a:p>
            <a:pPr>
              <a:lnSpc>
                <a:spcPct val="200000"/>
              </a:lnSpc>
            </a:pPr>
            <a:r>
              <a:rPr lang="en-US" sz="4400" b="1" dirty="0">
                <a:latin typeface="DG Jory Bold"/>
                <a:ea typeface="DG Jory Bold"/>
                <a:cs typeface="DG Jory Bold"/>
                <a:sym typeface="DG Jory Bold"/>
              </a:rPr>
              <a:t>3- Fatima Alqahtani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36359" y="383531"/>
            <a:ext cx="6727254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32"/>
              </a:lnSpc>
            </a:pPr>
            <a:r>
              <a:rPr lang="en-US" sz="8604" dirty="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Team Members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D9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5061244" y="-3083796"/>
            <a:ext cx="8387443" cy="17183100"/>
          </a:xfrm>
          <a:custGeom>
            <a:avLst/>
            <a:gdLst/>
            <a:ahLst/>
            <a:cxnLst/>
            <a:rect l="l" t="t" r="r" b="b"/>
            <a:pathLst>
              <a:path w="9869809" h="11574403">
                <a:moveTo>
                  <a:pt x="0" y="0"/>
                </a:moveTo>
                <a:lnTo>
                  <a:pt x="9869810" y="0"/>
                </a:lnTo>
                <a:lnTo>
                  <a:pt x="9869810" y="11574403"/>
                </a:lnTo>
                <a:lnTo>
                  <a:pt x="0" y="115744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Freeform 4"/>
          <p:cNvSpPr/>
          <p:nvPr/>
        </p:nvSpPr>
        <p:spPr>
          <a:xfrm flipH="1">
            <a:off x="15011400" y="7658100"/>
            <a:ext cx="3086100" cy="2443256"/>
          </a:xfrm>
          <a:custGeom>
            <a:avLst/>
            <a:gdLst/>
            <a:ahLst/>
            <a:cxnLst/>
            <a:rect l="l" t="t" r="r" b="b"/>
            <a:pathLst>
              <a:path w="4757232" h="3433856">
                <a:moveTo>
                  <a:pt x="4757232" y="0"/>
                </a:moveTo>
                <a:lnTo>
                  <a:pt x="0" y="0"/>
                </a:lnTo>
                <a:lnTo>
                  <a:pt x="0" y="3433856"/>
                </a:lnTo>
                <a:lnTo>
                  <a:pt x="4757232" y="3433856"/>
                </a:lnTo>
                <a:lnTo>
                  <a:pt x="475723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152401" y="42709"/>
            <a:ext cx="2514601" cy="2586191"/>
          </a:xfrm>
          <a:custGeom>
            <a:avLst/>
            <a:gdLst/>
            <a:ahLst/>
            <a:cxnLst/>
            <a:rect l="l" t="t" r="r" b="b"/>
            <a:pathLst>
              <a:path w="3823023" h="4114800">
                <a:moveTo>
                  <a:pt x="0" y="0"/>
                </a:moveTo>
                <a:lnTo>
                  <a:pt x="3823023" y="0"/>
                </a:lnTo>
                <a:lnTo>
                  <a:pt x="38230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5943600" y="2933700"/>
            <a:ext cx="11026616" cy="49936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4400" b="1" dirty="0">
                <a:latin typeface="DG Jory Bold" panose="020B0604020202020204" charset="-78"/>
                <a:ea typeface="DG Jory Bold"/>
                <a:cs typeface="DG Jory Bold" panose="020B0604020202020204" charset="-78"/>
                <a:sym typeface="DG Jory Bold"/>
              </a:rPr>
              <a:t>The Project Overview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4400" b="1" dirty="0">
                <a:latin typeface="DG Jory Bold" panose="020B0604020202020204" charset="-78"/>
                <a:cs typeface="DG Jory Bold" panose="020B0604020202020204" charset="-78"/>
              </a:rPr>
              <a:t>The project Workflow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4400" b="1" dirty="0">
                <a:latin typeface="DG Jory Bold" panose="020B0604020202020204" charset="-78"/>
                <a:cs typeface="DG Jory Bold" panose="020B0604020202020204" charset="-78"/>
              </a:rPr>
              <a:t>Tools &amp; Technologies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4400" dirty="0">
                <a:solidFill>
                  <a:srgbClr val="000000"/>
                </a:solidFill>
                <a:latin typeface="DG Jory Bold" panose="020B0604020202020204" charset="-78"/>
                <a:ea typeface="Handy Casual"/>
                <a:cs typeface="DG Jory Bold" panose="020B0604020202020204" charset="-78"/>
                <a:sym typeface="Handy Casual"/>
              </a:rPr>
              <a:t> Model Evaluation</a:t>
            </a:r>
            <a:endParaRPr lang="en-US" sz="4400" b="1" dirty="0">
              <a:latin typeface="DG Jory Bold" panose="020B0604020202020204" charset="-78"/>
              <a:ea typeface="DG Jory Bold"/>
              <a:cs typeface="DG Jory Bold" panose="020B0604020202020204" charset="-78"/>
              <a:sym typeface="DG Jory Bold"/>
            </a:endParaRP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4400" b="1" dirty="0">
                <a:latin typeface="DG Jory Bold" panose="020B0604020202020204" charset="-78"/>
                <a:ea typeface="DG Jory Bold"/>
                <a:cs typeface="DG Jory Bold" panose="020B0604020202020204" charset="-78"/>
                <a:sym typeface="DG Jory Bold"/>
              </a:rPr>
              <a:t> The Final outcome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399797" y="349895"/>
            <a:ext cx="7488405" cy="112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2"/>
              </a:lnSpc>
            </a:pPr>
            <a:r>
              <a:rPr lang="en-US" sz="8800" dirty="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Agenda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D9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463282" y="-4080549"/>
            <a:ext cx="9485559" cy="19478923"/>
          </a:xfrm>
          <a:custGeom>
            <a:avLst/>
            <a:gdLst/>
            <a:ahLst/>
            <a:cxnLst/>
            <a:rect l="l" t="t" r="r" b="b"/>
            <a:pathLst>
              <a:path w="9433685" h="11062956">
                <a:moveTo>
                  <a:pt x="0" y="0"/>
                </a:moveTo>
                <a:lnTo>
                  <a:pt x="9433684" y="0"/>
                </a:lnTo>
                <a:lnTo>
                  <a:pt x="9433684" y="11062957"/>
                </a:lnTo>
                <a:lnTo>
                  <a:pt x="0" y="110629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TextBox 6"/>
          <p:cNvSpPr txBox="1"/>
          <p:nvPr/>
        </p:nvSpPr>
        <p:spPr>
          <a:xfrm>
            <a:off x="1736686" y="2650510"/>
            <a:ext cx="11217314" cy="63940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latin typeface="DG Jory Bold" panose="020B0604020202020204" charset="-78"/>
                <a:cs typeface="DG Jory Bold" panose="020B0604020202020204" charset="-78"/>
              </a:rPr>
              <a:t>Problem</a:t>
            </a:r>
            <a:endParaRPr lang="en-US" sz="3600" b="1" dirty="0">
              <a:latin typeface="DG Jory Bold" panose="020B0604020202020204" charset="-78"/>
              <a:cs typeface="DG Jory Bold" panose="020B0604020202020204" charset="-78"/>
            </a:endParaRP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DG Jory Bold" panose="020B0604020202020204" charset="-78"/>
                <a:cs typeface="DG Jory Bold" panose="020B0604020202020204" charset="-78"/>
              </a:rPr>
              <a:t>Travel planning is time-consuming. Users struggle to find options that match their budget, location, time, and preferences.</a:t>
            </a:r>
          </a:p>
          <a:p>
            <a:pPr>
              <a:lnSpc>
                <a:spcPct val="150000"/>
              </a:lnSpc>
            </a:pPr>
            <a:endParaRPr lang="en-US" sz="3600" b="1" dirty="0">
              <a:latin typeface="DG Jory Bold" panose="020B0604020202020204" charset="-78"/>
              <a:cs typeface="DG Jory Bold" panose="020B0604020202020204" charset="-78"/>
            </a:endParaRPr>
          </a:p>
          <a:p>
            <a:pPr>
              <a:lnSpc>
                <a:spcPct val="150000"/>
              </a:lnSpc>
            </a:pPr>
            <a:r>
              <a:rPr lang="en-US" sz="4000" b="1" dirty="0">
                <a:latin typeface="DG Jory Bold" panose="020B0604020202020204" charset="-78"/>
                <a:cs typeface="DG Jory Bold" panose="020B0604020202020204" charset="-78"/>
              </a:rPr>
              <a:t>Solution</a:t>
            </a:r>
            <a:endParaRPr lang="en-US" sz="3600" b="1" dirty="0">
              <a:latin typeface="DG Jory Bold" panose="020B0604020202020204" charset="-78"/>
              <a:cs typeface="DG Jory Bold" panose="020B0604020202020204" charset="-78"/>
            </a:endParaRP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DG Jory Bold" panose="020B0604020202020204" charset="-78"/>
                <a:cs typeface="DG Jory Bold" panose="020B0604020202020204" charset="-78"/>
              </a:rPr>
              <a:t>WAIN uses AI to provide personalized travel recommendations in one place, helping users save time and make better decisions.</a:t>
            </a:r>
          </a:p>
          <a:p>
            <a:pPr>
              <a:lnSpc>
                <a:spcPct val="150000"/>
              </a:lnSpc>
            </a:pPr>
            <a:endParaRPr lang="en-US" sz="3600" b="1" dirty="0">
              <a:latin typeface="DG Jory Bold" panose="020B0604020202020204" charset="-78"/>
              <a:ea typeface="DG Jory Bold"/>
              <a:cs typeface="DG Jory Bold" panose="020B0604020202020204" charset="-78"/>
              <a:sym typeface="DG Jory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070759" y="342900"/>
            <a:ext cx="9888080" cy="10849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32"/>
              </a:lnSpc>
            </a:pPr>
            <a:r>
              <a:rPr lang="en-US" sz="7200" b="1" dirty="0">
                <a:latin typeface="DG Jory Bold"/>
                <a:ea typeface="DG Jory Bold"/>
                <a:cs typeface="DG Jory Bold"/>
                <a:sym typeface="DG Jory Bold"/>
              </a:rPr>
              <a:t>The Project Overview</a:t>
            </a:r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FEB17D6D-1DC0-4E9B-4AF2-C354338C5410}"/>
              </a:ext>
            </a:extLst>
          </p:cNvPr>
          <p:cNvSpPr/>
          <p:nvPr/>
        </p:nvSpPr>
        <p:spPr>
          <a:xfrm rot="20722068">
            <a:off x="304799" y="7547001"/>
            <a:ext cx="1272515" cy="2540344"/>
          </a:xfrm>
          <a:custGeom>
            <a:avLst/>
            <a:gdLst/>
            <a:ahLst/>
            <a:cxnLst/>
            <a:rect l="l" t="t" r="r" b="b"/>
            <a:pathLst>
              <a:path w="2468880" h="4114800">
                <a:moveTo>
                  <a:pt x="0" y="0"/>
                </a:moveTo>
                <a:lnTo>
                  <a:pt x="2468880" y="0"/>
                </a:lnTo>
                <a:lnTo>
                  <a:pt x="24688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0F74811A-56F4-840B-69FE-02E09583683D}"/>
              </a:ext>
            </a:extLst>
          </p:cNvPr>
          <p:cNvSpPr/>
          <p:nvPr/>
        </p:nvSpPr>
        <p:spPr>
          <a:xfrm rot="2016587">
            <a:off x="16226898" y="106637"/>
            <a:ext cx="1937341" cy="1948332"/>
          </a:xfrm>
          <a:custGeom>
            <a:avLst/>
            <a:gdLst/>
            <a:ahLst/>
            <a:cxnLst/>
            <a:rect l="l" t="t" r="r" b="b"/>
            <a:pathLst>
              <a:path w="4794788" h="4114800">
                <a:moveTo>
                  <a:pt x="0" y="0"/>
                </a:moveTo>
                <a:lnTo>
                  <a:pt x="4794788" y="0"/>
                </a:lnTo>
                <a:lnTo>
                  <a:pt x="479478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1629B5-AC93-03B8-9040-D316132ADD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0" y="2095500"/>
            <a:ext cx="3400425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D9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1">
            <a:off x="4398482" y="-3723568"/>
            <a:ext cx="9732003" cy="18474539"/>
          </a:xfrm>
          <a:custGeom>
            <a:avLst/>
            <a:gdLst/>
            <a:ahLst/>
            <a:cxnLst/>
            <a:rect l="l" t="t" r="r" b="b"/>
            <a:pathLst>
              <a:path w="9433685" h="11062956">
                <a:moveTo>
                  <a:pt x="9433684" y="0"/>
                </a:moveTo>
                <a:lnTo>
                  <a:pt x="0" y="0"/>
                </a:lnTo>
                <a:lnTo>
                  <a:pt x="0" y="11062956"/>
                </a:lnTo>
                <a:lnTo>
                  <a:pt x="9433684" y="11062956"/>
                </a:lnTo>
                <a:lnTo>
                  <a:pt x="943368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1080172">
            <a:off x="566905" y="7645001"/>
            <a:ext cx="2273101" cy="2334411"/>
          </a:xfrm>
          <a:custGeom>
            <a:avLst/>
            <a:gdLst/>
            <a:ahLst/>
            <a:cxnLst/>
            <a:rect l="l" t="t" r="r" b="b"/>
            <a:pathLst>
              <a:path w="4656667" h="4114800">
                <a:moveTo>
                  <a:pt x="0" y="0"/>
                </a:moveTo>
                <a:lnTo>
                  <a:pt x="4656667" y="0"/>
                </a:lnTo>
                <a:lnTo>
                  <a:pt x="46566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1800130">
            <a:off x="15262359" y="642005"/>
            <a:ext cx="2905378" cy="1259574"/>
          </a:xfrm>
          <a:custGeom>
            <a:avLst/>
            <a:gdLst/>
            <a:ahLst/>
            <a:cxnLst/>
            <a:rect l="l" t="t" r="r" b="b"/>
            <a:pathLst>
              <a:path w="2984746" h="1275300">
                <a:moveTo>
                  <a:pt x="0" y="0"/>
                </a:moveTo>
                <a:lnTo>
                  <a:pt x="2984745" y="0"/>
                </a:lnTo>
                <a:lnTo>
                  <a:pt x="2984745" y="1275300"/>
                </a:lnTo>
                <a:lnTo>
                  <a:pt x="0" y="1275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5992511" y="2062288"/>
            <a:ext cx="9661835" cy="7201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3600" dirty="0">
                <a:latin typeface="DG Jory Bold" panose="020B0604020202020204" charset="-78"/>
                <a:cs typeface="DG Jory Bold" panose="020B0604020202020204" charset="-78"/>
              </a:rPr>
              <a:t>Data Collection &amp; Cleaning</a:t>
            </a:r>
          </a:p>
          <a:p>
            <a:pPr marL="742950" indent="-742950">
              <a:buFont typeface="+mj-lt"/>
              <a:buAutoNum type="arabicPeriod"/>
            </a:pPr>
            <a:endParaRPr lang="en-US" sz="3600" dirty="0">
              <a:latin typeface="DG Jory Bold" panose="020B0604020202020204" charset="-78"/>
              <a:cs typeface="DG Jory Bold" panose="020B0604020202020204" charset="-78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>
                <a:latin typeface="DG Jory Bold" panose="020B0604020202020204" charset="-78"/>
                <a:cs typeface="DG Jory Bold" panose="020B0604020202020204" charset="-78"/>
              </a:rPr>
              <a:t>Store Data in the Database</a:t>
            </a:r>
          </a:p>
          <a:p>
            <a:pPr marL="742950" indent="-742950">
              <a:buFont typeface="+mj-lt"/>
              <a:buAutoNum type="arabicPeriod"/>
            </a:pPr>
            <a:endParaRPr lang="en-US" sz="3600" dirty="0">
              <a:latin typeface="DG Jory Bold" panose="020B0604020202020204" charset="-78"/>
              <a:cs typeface="DG Jory Bold" panose="020B0604020202020204" charset="-78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>
                <a:latin typeface="DG Jory Bold" panose="020B0604020202020204" charset="-78"/>
                <a:cs typeface="DG Jory Bold" panose="020B0604020202020204" charset="-78"/>
              </a:rPr>
              <a:t>Build the AI Agent Recommendation System</a:t>
            </a:r>
          </a:p>
          <a:p>
            <a:pPr marL="742950" indent="-742950">
              <a:buFont typeface="+mj-lt"/>
              <a:buAutoNum type="arabicPeriod"/>
            </a:pPr>
            <a:endParaRPr lang="en-US" sz="3600" dirty="0">
              <a:latin typeface="DG Jory Bold" panose="020B0604020202020204" charset="-78"/>
              <a:cs typeface="DG Jory Bold" panose="020B0604020202020204" charset="-78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>
                <a:latin typeface="DG Jory Bold" panose="020B0604020202020204" charset="-78"/>
                <a:cs typeface="DG Jory Bold" panose="020B0604020202020204" charset="-78"/>
              </a:rPr>
              <a:t>Personalize &amp; Rank Recommendations</a:t>
            </a:r>
          </a:p>
          <a:p>
            <a:pPr marL="742950" indent="-742950">
              <a:buFont typeface="+mj-lt"/>
              <a:buAutoNum type="arabicPeriod"/>
            </a:pPr>
            <a:endParaRPr lang="en-US" sz="3600" dirty="0">
              <a:latin typeface="DG Jory Bold" panose="020B0604020202020204" charset="-78"/>
              <a:cs typeface="DG Jory Bold" panose="020B0604020202020204" charset="-78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>
                <a:latin typeface="DG Jory Bold" panose="020B0604020202020204" charset="-78"/>
                <a:cs typeface="DG Jory Bold" panose="020B0604020202020204" charset="-78"/>
              </a:rPr>
              <a:t>Generate the Final AI Response</a:t>
            </a:r>
          </a:p>
          <a:p>
            <a:pPr marL="742950" indent="-742950">
              <a:buFont typeface="+mj-lt"/>
              <a:buAutoNum type="arabicPeriod"/>
            </a:pPr>
            <a:endParaRPr lang="en-US" sz="3600" dirty="0">
              <a:latin typeface="DG Jory Bold" panose="020B0604020202020204" charset="-78"/>
              <a:cs typeface="DG Jory Bold" panose="020B0604020202020204" charset="-78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>
                <a:latin typeface="DG Jory Bold" panose="020B0604020202020204" charset="-78"/>
                <a:cs typeface="DG Jory Bold" panose="020B0604020202020204" charset="-78"/>
              </a:rPr>
              <a:t>Build the User Interface</a:t>
            </a:r>
          </a:p>
          <a:p>
            <a:pPr marL="742950" indent="-742950">
              <a:buFont typeface="+mj-lt"/>
              <a:buAutoNum type="arabicPeriod"/>
            </a:pPr>
            <a:endParaRPr lang="en-US" sz="3600" dirty="0">
              <a:latin typeface="DG Jory Bold" panose="020B0604020202020204" charset="-78"/>
              <a:cs typeface="DG Jory Bold" panose="020B0604020202020204" charset="-78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>
                <a:latin typeface="DG Jory Bold" panose="020B0604020202020204" charset="-78"/>
                <a:cs typeface="DG Jory Bold" panose="020B0604020202020204" charset="-78"/>
              </a:rPr>
              <a:t>Test &amp; Evaluate the Model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38600" y="307905"/>
            <a:ext cx="9661835" cy="10849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32"/>
              </a:lnSpc>
            </a:pPr>
            <a:r>
              <a:rPr lang="en-US" sz="7200" b="1" dirty="0">
                <a:latin typeface="DG Jory Bold" panose="020B0604020202020204" charset="-78"/>
                <a:cs typeface="DG Jory Bold" panose="020B0604020202020204" charset="-78"/>
              </a:rPr>
              <a:t>The Project Workflow</a:t>
            </a:r>
            <a:endParaRPr lang="en-US" sz="7200" dirty="0">
              <a:latin typeface="Handy Casual"/>
              <a:ea typeface="Handy Casual"/>
              <a:cs typeface="Handy Casual"/>
              <a:sym typeface="Handy Casu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D9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955086-40DE-2D96-235B-20689588A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9763234-B3AF-4E57-62A5-855F7B2AAFF0}"/>
              </a:ext>
            </a:extLst>
          </p:cNvPr>
          <p:cNvSpPr/>
          <p:nvPr/>
        </p:nvSpPr>
        <p:spPr>
          <a:xfrm rot="-5400000" flipH="1">
            <a:off x="5237808" y="-3625560"/>
            <a:ext cx="8907844" cy="18411739"/>
          </a:xfrm>
          <a:custGeom>
            <a:avLst/>
            <a:gdLst/>
            <a:ahLst/>
            <a:cxnLst/>
            <a:rect l="l" t="t" r="r" b="b"/>
            <a:pathLst>
              <a:path w="9433685" h="11062956">
                <a:moveTo>
                  <a:pt x="9433684" y="0"/>
                </a:moveTo>
                <a:lnTo>
                  <a:pt x="0" y="0"/>
                </a:lnTo>
                <a:lnTo>
                  <a:pt x="0" y="11062956"/>
                </a:lnTo>
                <a:lnTo>
                  <a:pt x="9433684" y="11062956"/>
                </a:lnTo>
                <a:lnTo>
                  <a:pt x="943368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4B27630-372C-1C6B-8501-D2C62A849FA3}"/>
              </a:ext>
            </a:extLst>
          </p:cNvPr>
          <p:cNvSpPr txBox="1"/>
          <p:nvPr/>
        </p:nvSpPr>
        <p:spPr>
          <a:xfrm>
            <a:off x="5638800" y="3418467"/>
            <a:ext cx="9661835" cy="45397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latin typeface="DG Jory Bold" panose="020B0604020202020204" charset="-78"/>
                <a:cs typeface="DG Jory Bold" panose="020B0604020202020204" charset="-78"/>
              </a:rPr>
              <a:t>Programming Language:</a:t>
            </a:r>
            <a:r>
              <a:rPr lang="en-US" sz="4000" dirty="0">
                <a:latin typeface="DG Jory Bold" panose="020B0604020202020204" charset="-78"/>
                <a:cs typeface="DG Jory Bold" panose="020B0604020202020204" charset="-78"/>
              </a:rPr>
              <a:t>   Python</a:t>
            </a: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latin typeface="DG Jory Bold" panose="020B0604020202020204" charset="-78"/>
                <a:cs typeface="DG Jory Bold" panose="020B0604020202020204" charset="-78"/>
              </a:rPr>
              <a:t>LLM / AI:  </a:t>
            </a:r>
            <a:r>
              <a:rPr lang="en-US" sz="4000" dirty="0">
                <a:latin typeface="DG Jory Bold" panose="020B0604020202020204" charset="-78"/>
                <a:cs typeface="DG Jory Bold" panose="020B0604020202020204" charset="-78"/>
              </a:rPr>
              <a:t>OpenAI API</a:t>
            </a: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latin typeface="DG Jory Bold" panose="020B0604020202020204" charset="-78"/>
                <a:cs typeface="DG Jory Bold" panose="020B0604020202020204" charset="-78"/>
              </a:rPr>
              <a:t>Frontend:</a:t>
            </a:r>
            <a:r>
              <a:rPr lang="en-US" sz="4000" dirty="0">
                <a:latin typeface="DG Jory Bold" panose="020B0604020202020204" charset="-78"/>
                <a:cs typeface="DG Jory Bold" panose="020B0604020202020204" charset="-78"/>
              </a:rPr>
              <a:t>   </a:t>
            </a:r>
            <a:r>
              <a:rPr lang="en-US" sz="4000" dirty="0" err="1">
                <a:latin typeface="DG Jory Bold" panose="020B0604020202020204" charset="-78"/>
                <a:cs typeface="DG Jory Bold" panose="020B0604020202020204" charset="-78"/>
              </a:rPr>
              <a:t>Streamlit</a:t>
            </a:r>
            <a:endParaRPr lang="en-US" sz="4000" dirty="0">
              <a:latin typeface="DG Jory Bold" panose="020B0604020202020204" charset="-78"/>
              <a:cs typeface="DG Jory Bold" panose="020B0604020202020204" charset="-78"/>
            </a:endParaRP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latin typeface="DG Jory Bold" panose="020B0604020202020204" charset="-78"/>
                <a:cs typeface="DG Jory Bold" panose="020B0604020202020204" charset="-78"/>
              </a:rPr>
              <a:t>Database:</a:t>
            </a:r>
            <a:r>
              <a:rPr lang="en-US" sz="4000" dirty="0">
                <a:latin typeface="DG Jory Bold" panose="020B0604020202020204" charset="-78"/>
                <a:cs typeface="DG Jory Bold" panose="020B0604020202020204" charset="-78"/>
              </a:rPr>
              <a:t>   PostgreSQL</a:t>
            </a: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latin typeface="DG Jory Bold" panose="020B0604020202020204" charset="-78"/>
                <a:cs typeface="DG Jory Bold" panose="020B0604020202020204" charset="-78"/>
              </a:rPr>
              <a:t>Version Control:</a:t>
            </a:r>
            <a:r>
              <a:rPr lang="en-US" sz="4000" dirty="0">
                <a:latin typeface="DG Jory Bold" panose="020B0604020202020204" charset="-78"/>
                <a:cs typeface="DG Jory Bold" panose="020B0604020202020204" charset="-78"/>
              </a:rPr>
              <a:t>     Git / GitHub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E3CD1BD-35BA-2C46-EBE6-0B378AA53F94}"/>
              </a:ext>
            </a:extLst>
          </p:cNvPr>
          <p:cNvSpPr txBox="1"/>
          <p:nvPr/>
        </p:nvSpPr>
        <p:spPr>
          <a:xfrm>
            <a:off x="4313082" y="365326"/>
            <a:ext cx="9661835" cy="10849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32"/>
              </a:lnSpc>
            </a:pPr>
            <a:r>
              <a:rPr lang="en-US" sz="7200" b="1" dirty="0">
                <a:latin typeface="DG Jory Bold" panose="020B0604020202020204" charset="-78"/>
                <a:cs typeface="DG Jory Bold" panose="020B0604020202020204" charset="-78"/>
              </a:rPr>
              <a:t>Tools &amp; Technologies</a:t>
            </a:r>
            <a:endParaRPr lang="en-US" sz="7200" dirty="0">
              <a:latin typeface="Handy Casual"/>
              <a:ea typeface="Handy Casual"/>
              <a:cs typeface="Handy Casual"/>
              <a:sym typeface="Handy Casual"/>
            </a:endParaRPr>
          </a:p>
        </p:txBody>
      </p:sp>
      <p:sp>
        <p:nvSpPr>
          <p:cNvPr id="4" name="Freeform 6">
            <a:extLst>
              <a:ext uri="{FF2B5EF4-FFF2-40B4-BE49-F238E27FC236}">
                <a16:creationId xmlns:a16="http://schemas.microsoft.com/office/drawing/2014/main" id="{1F9FF6AD-849B-007F-B4EA-98625FBEE9D0}"/>
              </a:ext>
            </a:extLst>
          </p:cNvPr>
          <p:cNvSpPr/>
          <p:nvPr/>
        </p:nvSpPr>
        <p:spPr>
          <a:xfrm>
            <a:off x="990600" y="6896100"/>
            <a:ext cx="2237656" cy="2576145"/>
          </a:xfrm>
          <a:custGeom>
            <a:avLst/>
            <a:gdLst/>
            <a:ahLst/>
            <a:cxnLst/>
            <a:rect l="l" t="t" r="r" b="b"/>
            <a:pathLst>
              <a:path w="3695839" h="4114800">
                <a:moveTo>
                  <a:pt x="0" y="0"/>
                </a:moveTo>
                <a:lnTo>
                  <a:pt x="3695839" y="0"/>
                </a:lnTo>
                <a:lnTo>
                  <a:pt x="36958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9EA71F63-F0C1-3FEC-E94A-710B3236C087}"/>
              </a:ext>
            </a:extLst>
          </p:cNvPr>
          <p:cNvSpPr/>
          <p:nvPr/>
        </p:nvSpPr>
        <p:spPr>
          <a:xfrm rot="1022418">
            <a:off x="15244754" y="620888"/>
            <a:ext cx="1731349" cy="1951057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826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D9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953038" y="-3962364"/>
            <a:ext cx="9556818" cy="18941910"/>
          </a:xfrm>
          <a:custGeom>
            <a:avLst/>
            <a:gdLst/>
            <a:ahLst/>
            <a:cxnLst/>
            <a:rect l="l" t="t" r="r" b="b"/>
            <a:pathLst>
              <a:path w="9433685" h="11062956">
                <a:moveTo>
                  <a:pt x="0" y="0"/>
                </a:moveTo>
                <a:lnTo>
                  <a:pt x="9433684" y="0"/>
                </a:lnTo>
                <a:lnTo>
                  <a:pt x="9433684" y="11062957"/>
                </a:lnTo>
                <a:lnTo>
                  <a:pt x="0" y="110629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816608">
            <a:off x="15576497" y="11822"/>
            <a:ext cx="2237656" cy="2576145"/>
          </a:xfrm>
          <a:custGeom>
            <a:avLst/>
            <a:gdLst/>
            <a:ahLst/>
            <a:cxnLst/>
            <a:rect l="l" t="t" r="r" b="b"/>
            <a:pathLst>
              <a:path w="3695839" h="4114800">
                <a:moveTo>
                  <a:pt x="0" y="0"/>
                </a:moveTo>
                <a:lnTo>
                  <a:pt x="3695839" y="0"/>
                </a:lnTo>
                <a:lnTo>
                  <a:pt x="36958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2514600" y="3015142"/>
            <a:ext cx="15087600" cy="42934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FF0000"/>
                </a:solidFill>
                <a:latin typeface="DG Jory Bold" panose="020B0604020202020204" charset="-78"/>
                <a:cs typeface="DG Jory Bold" panose="020B0604020202020204" charset="-78"/>
              </a:rPr>
              <a:t>Precision:</a:t>
            </a:r>
            <a:r>
              <a:rPr lang="en-US" sz="3600" b="1" dirty="0">
                <a:latin typeface="DG Jory Bold" panose="020B0604020202020204" charset="-78"/>
                <a:cs typeface="DG Jory Bold" panose="020B0604020202020204" charset="-78"/>
              </a:rPr>
              <a:t>   </a:t>
            </a:r>
            <a:r>
              <a:rPr lang="en-US" sz="3600" dirty="0">
                <a:latin typeface="DG Jory Bold" panose="020B0604020202020204" charset="-78"/>
                <a:cs typeface="DG Jory Bold" panose="020B0604020202020204" charset="-78"/>
              </a:rPr>
              <a:t>Of the recommendations WAIN showed me, how many are relevant?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F0000"/>
                </a:solidFill>
                <a:latin typeface="DG Jory Bold" panose="020B0604020202020204" charset="-78"/>
                <a:cs typeface="DG Jory Bold" panose="020B0604020202020204" charset="-78"/>
              </a:rPr>
              <a:t> </a:t>
            </a:r>
            <a:r>
              <a:rPr lang="en-US" sz="3600" b="1" dirty="0">
                <a:solidFill>
                  <a:srgbClr val="FF0000"/>
                </a:solidFill>
                <a:latin typeface="DG Jory Bold" panose="020B0604020202020204" charset="-78"/>
                <a:cs typeface="DG Jory Bold" panose="020B0604020202020204" charset="-78"/>
              </a:rPr>
              <a:t>Recall:   </a:t>
            </a:r>
            <a:r>
              <a:rPr lang="en-US" sz="3600" dirty="0">
                <a:latin typeface="DG Jory Bold" panose="020B0604020202020204" charset="-78"/>
                <a:cs typeface="DG Jory Bold" panose="020B0604020202020204" charset="-78"/>
              </a:rPr>
              <a:t>Did WAIN find most of the relevant options?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DG Jory Bold" panose="020B0604020202020204" charset="-78"/>
                <a:cs typeface="DG Jory Bold" panose="020B0604020202020204" charset="-78"/>
              </a:rPr>
              <a:t> </a:t>
            </a:r>
            <a:r>
              <a:rPr lang="en-US" sz="3600" b="1" dirty="0">
                <a:solidFill>
                  <a:srgbClr val="FF0000"/>
                </a:solidFill>
                <a:latin typeface="DG Jory Bold" panose="020B0604020202020204" charset="-78"/>
                <a:cs typeface="DG Jory Bold" panose="020B0604020202020204" charset="-78"/>
              </a:rPr>
              <a:t>Faithfulness / </a:t>
            </a:r>
            <a:r>
              <a:rPr lang="en-US" sz="3600" b="1" dirty="0" err="1">
                <a:solidFill>
                  <a:srgbClr val="FF0000"/>
                </a:solidFill>
                <a:latin typeface="DG Jory Bold" panose="020B0604020202020204" charset="-78"/>
                <a:cs typeface="DG Jory Bold" panose="020B0604020202020204" charset="-78"/>
              </a:rPr>
              <a:t>Groundedness</a:t>
            </a:r>
            <a:r>
              <a:rPr lang="en-US" sz="3600" b="1" dirty="0">
                <a:solidFill>
                  <a:srgbClr val="FF0000"/>
                </a:solidFill>
                <a:latin typeface="DG Jory Bold" panose="020B0604020202020204" charset="-78"/>
                <a:cs typeface="DG Jory Bold" panose="020B0604020202020204" charset="-78"/>
              </a:rPr>
              <a:t>:    </a:t>
            </a:r>
            <a:r>
              <a:rPr lang="en-US" sz="3600" dirty="0">
                <a:latin typeface="DG Jory Bold" panose="020B0604020202020204" charset="-78"/>
                <a:cs typeface="DG Jory Bold" panose="020B0604020202020204" charset="-78"/>
              </a:rPr>
              <a:t>Did WAIN's answer actually come from the information it retrieved?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943600" y="222678"/>
            <a:ext cx="7157509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32"/>
              </a:lnSpc>
            </a:pPr>
            <a:r>
              <a:rPr lang="en-US" sz="8604" dirty="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Model Evaluation</a:t>
            </a: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CC7AC9F-E0E7-7DAE-E877-903FA6E8EC87}"/>
              </a:ext>
            </a:extLst>
          </p:cNvPr>
          <p:cNvSpPr/>
          <p:nvPr/>
        </p:nvSpPr>
        <p:spPr>
          <a:xfrm flipH="1">
            <a:off x="202603" y="7579674"/>
            <a:ext cx="1904561" cy="2384293"/>
          </a:xfrm>
          <a:custGeom>
            <a:avLst/>
            <a:gdLst/>
            <a:ahLst/>
            <a:cxnLst/>
            <a:rect l="l" t="t" r="r" b="b"/>
            <a:pathLst>
              <a:path w="2156928" h="3003318">
                <a:moveTo>
                  <a:pt x="2156928" y="0"/>
                </a:moveTo>
                <a:lnTo>
                  <a:pt x="0" y="0"/>
                </a:lnTo>
                <a:lnTo>
                  <a:pt x="0" y="3003318"/>
                </a:lnTo>
                <a:lnTo>
                  <a:pt x="2156928" y="3003318"/>
                </a:lnTo>
                <a:lnTo>
                  <a:pt x="215692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D9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379786" y="-3411809"/>
            <a:ext cx="9744477" cy="18180201"/>
          </a:xfrm>
          <a:custGeom>
            <a:avLst/>
            <a:gdLst/>
            <a:ahLst/>
            <a:cxnLst/>
            <a:rect l="l" t="t" r="r" b="b"/>
            <a:pathLst>
              <a:path w="9869809" h="11574403">
                <a:moveTo>
                  <a:pt x="0" y="0"/>
                </a:moveTo>
                <a:lnTo>
                  <a:pt x="9869810" y="0"/>
                </a:lnTo>
                <a:lnTo>
                  <a:pt x="9869810" y="11574403"/>
                </a:lnTo>
                <a:lnTo>
                  <a:pt x="0" y="115744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480797">
            <a:off x="15086051" y="7390772"/>
            <a:ext cx="3063258" cy="2668527"/>
          </a:xfrm>
          <a:custGeom>
            <a:avLst/>
            <a:gdLst/>
            <a:ahLst/>
            <a:cxnLst/>
            <a:rect l="l" t="t" r="r" b="b"/>
            <a:pathLst>
              <a:path w="3783086" h="3425413">
                <a:moveTo>
                  <a:pt x="0" y="0"/>
                </a:moveTo>
                <a:lnTo>
                  <a:pt x="3783086" y="0"/>
                </a:lnTo>
                <a:lnTo>
                  <a:pt x="3783086" y="3425412"/>
                </a:lnTo>
                <a:lnTo>
                  <a:pt x="0" y="34254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303965">
            <a:off x="410809" y="241850"/>
            <a:ext cx="1917872" cy="3130591"/>
          </a:xfrm>
          <a:custGeom>
            <a:avLst/>
            <a:gdLst/>
            <a:ahLst/>
            <a:cxnLst/>
            <a:rect l="l" t="t" r="r" b="b"/>
            <a:pathLst>
              <a:path w="2251918" h="4114800">
                <a:moveTo>
                  <a:pt x="0" y="0"/>
                </a:moveTo>
                <a:lnTo>
                  <a:pt x="2251918" y="0"/>
                </a:lnTo>
                <a:lnTo>
                  <a:pt x="22519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513014" y="3889382"/>
            <a:ext cx="13110109" cy="33009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900" b="1" dirty="0">
                <a:latin typeface="DG Jory Bold"/>
                <a:ea typeface="DG Jory Bold"/>
                <a:cs typeface="DG Jory Bold"/>
                <a:sym typeface="DG Jory Bold"/>
              </a:rPr>
              <a:t>The output of the WAIN? Agent is to provide users with a personalized, verified place recommendations based on their budget, available time, location, and preferences.</a:t>
            </a:r>
          </a:p>
          <a:p>
            <a:endParaRPr lang="en-US" sz="3900" b="1" dirty="0">
              <a:latin typeface="DG Jory Bold"/>
              <a:ea typeface="DG Jory Bold"/>
              <a:cs typeface="DG Jory Bold"/>
              <a:sym typeface="DG Jory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983587" y="265885"/>
            <a:ext cx="7488405" cy="1107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7200" b="1" dirty="0">
                <a:latin typeface="DG Jory Bold"/>
                <a:ea typeface="DG Jory Bold"/>
                <a:cs typeface="DG Jory Bold"/>
                <a:sym typeface="DG Jory Bold"/>
              </a:rPr>
              <a:t>The Final outcome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D9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1">
            <a:off x="5073818" y="-3504161"/>
            <a:ext cx="8984041" cy="16845680"/>
          </a:xfrm>
          <a:custGeom>
            <a:avLst/>
            <a:gdLst/>
            <a:ahLst/>
            <a:cxnLst/>
            <a:rect l="l" t="t" r="r" b="b"/>
            <a:pathLst>
              <a:path w="9433685" h="11062956">
                <a:moveTo>
                  <a:pt x="9433684" y="0"/>
                </a:moveTo>
                <a:lnTo>
                  <a:pt x="0" y="0"/>
                </a:lnTo>
                <a:lnTo>
                  <a:pt x="0" y="11062956"/>
                </a:lnTo>
                <a:lnTo>
                  <a:pt x="9433684" y="11062956"/>
                </a:lnTo>
                <a:lnTo>
                  <a:pt x="943368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5410074" y="7019926"/>
            <a:ext cx="2600376" cy="2390774"/>
          </a:xfrm>
          <a:custGeom>
            <a:avLst/>
            <a:gdLst/>
            <a:ahLst/>
            <a:cxnLst/>
            <a:rect l="l" t="t" r="r" b="b"/>
            <a:pathLst>
              <a:path w="4794788" h="4114800">
                <a:moveTo>
                  <a:pt x="0" y="0"/>
                </a:moveTo>
                <a:lnTo>
                  <a:pt x="4794788" y="0"/>
                </a:lnTo>
                <a:lnTo>
                  <a:pt x="479478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4114800" y="4762500"/>
            <a:ext cx="10058400" cy="1318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32"/>
              </a:lnSpc>
            </a:pPr>
            <a:r>
              <a:rPr lang="en-US" sz="19900" dirty="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Thank you</a:t>
            </a:r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C333261B-80A6-C2C0-84E5-D222C4D6EA77}"/>
              </a:ext>
            </a:extLst>
          </p:cNvPr>
          <p:cNvSpPr/>
          <p:nvPr/>
        </p:nvSpPr>
        <p:spPr>
          <a:xfrm rot="20503215">
            <a:off x="413544" y="258075"/>
            <a:ext cx="1964338" cy="1981200"/>
          </a:xfrm>
          <a:custGeom>
            <a:avLst/>
            <a:gdLst/>
            <a:ahLst/>
            <a:cxnLst/>
            <a:rect l="l" t="t" r="r" b="b"/>
            <a:pathLst>
              <a:path w="2707081" h="2707081">
                <a:moveTo>
                  <a:pt x="0" y="0"/>
                </a:moveTo>
                <a:lnTo>
                  <a:pt x="2707081" y="0"/>
                </a:lnTo>
                <a:lnTo>
                  <a:pt x="2707081" y="2707081"/>
                </a:lnTo>
                <a:lnTo>
                  <a:pt x="0" y="27070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5557</TotalTime>
  <Words>230</Words>
  <Application>Microsoft Office PowerPoint</Application>
  <PresentationFormat>Custom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Handy Casual</vt:lpstr>
      <vt:lpstr>DG Jory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Illustrated Travel Presentation</dc:title>
  <dc:creator>Reema saif</dc:creator>
  <cp:lastModifiedBy>Reema saif</cp:lastModifiedBy>
  <cp:revision>9</cp:revision>
  <dcterms:created xsi:type="dcterms:W3CDTF">2006-08-16T00:00:00Z</dcterms:created>
  <dcterms:modified xsi:type="dcterms:W3CDTF">2026-09-25T13:32:11Z</dcterms:modified>
  <dc:identifier>DAHTdUpT7_4</dc:identifier>
</cp:coreProperties>
</file>